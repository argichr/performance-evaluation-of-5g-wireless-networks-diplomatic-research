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70" r:id="rId6"/>
    <p:sldId id="271" r:id="rId7"/>
    <p:sldId id="272" r:id="rId8"/>
    <p:sldId id="273" r:id="rId9"/>
    <p:sldId id="274" r:id="rId10"/>
    <p:sldId id="275" r:id="rId11"/>
    <p:sldId id="277" r:id="rId12"/>
    <p:sldId id="278" r:id="rId13"/>
    <p:sldId id="276" r:id="rId14"/>
    <p:sldId id="279" r:id="rId15"/>
    <p:sldId id="267" r:id="rId16"/>
  </p:sldIdLst>
  <p:sldSz cx="12192000" cy="6858000"/>
  <p:notesSz cx="6858000" cy="9144000"/>
  <p:defaultTextStyle>
    <a:defPPr rtl="0">
      <a:defRPr lang="el-g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CC9D05-92C7-4216-9F5F-DEE48F2173CC}" v="6" dt="2025-07-23T09:54:07.2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75243" autoAdjust="0"/>
  </p:normalViewPr>
  <p:slideViewPr>
    <p:cSldViewPr snapToGrid="0">
      <p:cViewPr varScale="1">
        <p:scale>
          <a:sx n="40" d="100"/>
          <a:sy n="40" d="100"/>
        </p:scale>
        <p:origin x="547" y="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07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Χρήστος Αργυρόπουλος" userId="cdd370f164b32bdd" providerId="LiveId" clId="{C1CC9D05-92C7-4216-9F5F-DEE48F2173CC}"/>
    <pc:docChg chg="custSel modSld">
      <pc:chgData name="Χρήστος Αργυρόπουλος" userId="cdd370f164b32bdd" providerId="LiveId" clId="{C1CC9D05-92C7-4216-9F5F-DEE48F2173CC}" dt="2025-07-21T13:05:16.269" v="67" actId="20577"/>
      <pc:docMkLst>
        <pc:docMk/>
      </pc:docMkLst>
      <pc:sldChg chg="addSp delSp modSp mod">
        <pc:chgData name="Χρήστος Αργυρόπουλος" userId="cdd370f164b32bdd" providerId="LiveId" clId="{C1CC9D05-92C7-4216-9F5F-DEE48F2173CC}" dt="2025-07-21T12:00:54.825" v="34" actId="478"/>
        <pc:sldMkLst>
          <pc:docMk/>
          <pc:sldMk cId="510767980" sldId="267"/>
        </pc:sldMkLst>
        <pc:spChg chg="add mod">
          <ac:chgData name="Χρήστος Αργυρόπουλος" userId="cdd370f164b32bdd" providerId="LiveId" clId="{C1CC9D05-92C7-4216-9F5F-DEE48F2173CC}" dt="2025-07-21T12:00:54.825" v="34" actId="478"/>
          <ac:spMkLst>
            <pc:docMk/>
            <pc:sldMk cId="510767980" sldId="267"/>
            <ac:spMk id="3" creationId="{32BB6E8A-9252-55C8-D519-0DBB5E883F44}"/>
          </ac:spMkLst>
        </pc:spChg>
      </pc:sldChg>
      <pc:sldChg chg="modSp mod">
        <pc:chgData name="Χρήστος Αργυρόπουλος" userId="cdd370f164b32bdd" providerId="LiveId" clId="{C1CC9D05-92C7-4216-9F5F-DEE48F2173CC}" dt="2025-07-21T13:01:33.613" v="60" actId="20577"/>
        <pc:sldMkLst>
          <pc:docMk/>
          <pc:sldMk cId="1980526736" sldId="270"/>
        </pc:sldMkLst>
        <pc:spChg chg="mod">
          <ac:chgData name="Χρήστος Αργυρόπουλος" userId="cdd370f164b32bdd" providerId="LiveId" clId="{C1CC9D05-92C7-4216-9F5F-DEE48F2173CC}" dt="2025-07-21T13:01:33.613" v="60" actId="20577"/>
          <ac:spMkLst>
            <pc:docMk/>
            <pc:sldMk cId="1980526736" sldId="270"/>
            <ac:spMk id="3" creationId="{85C913D4-07F8-2893-01F9-C3C229214D50}"/>
          </ac:spMkLst>
        </pc:spChg>
      </pc:sldChg>
      <pc:sldChg chg="modSp mod">
        <pc:chgData name="Χρήστος Αργυρόπουλος" userId="cdd370f164b32bdd" providerId="LiveId" clId="{C1CC9D05-92C7-4216-9F5F-DEE48F2173CC}" dt="2025-07-21T13:05:16.269" v="67" actId="20577"/>
        <pc:sldMkLst>
          <pc:docMk/>
          <pc:sldMk cId="2034864014" sldId="274"/>
        </pc:sldMkLst>
        <pc:spChg chg="mod">
          <ac:chgData name="Χρήστος Αργυρόπουλος" userId="cdd370f164b32bdd" providerId="LiveId" clId="{C1CC9D05-92C7-4216-9F5F-DEE48F2173CC}" dt="2025-07-21T13:05:16.269" v="67" actId="20577"/>
          <ac:spMkLst>
            <pc:docMk/>
            <pc:sldMk cId="2034864014" sldId="274"/>
            <ac:spMk id="3" creationId="{FDA51183-EF25-0369-6A0D-4EAD44977595}"/>
          </ac:spMkLst>
        </pc:spChg>
      </pc:sldChg>
      <pc:sldChg chg="modSp mod">
        <pc:chgData name="Χρήστος Αργυρόπουλος" userId="cdd370f164b32bdd" providerId="LiveId" clId="{C1CC9D05-92C7-4216-9F5F-DEE48F2173CC}" dt="2025-07-21T11:59:37.601" v="33" actId="27636"/>
        <pc:sldMkLst>
          <pc:docMk/>
          <pc:sldMk cId="266194210" sldId="279"/>
        </pc:sldMkLst>
        <pc:spChg chg="mod">
          <ac:chgData name="Χρήστος Αργυρόπουλος" userId="cdd370f164b32bdd" providerId="LiveId" clId="{C1CC9D05-92C7-4216-9F5F-DEE48F2173CC}" dt="2025-07-21T11:59:09.505" v="21" actId="20577"/>
          <ac:spMkLst>
            <pc:docMk/>
            <pc:sldMk cId="266194210" sldId="279"/>
            <ac:spMk id="2" creationId="{AE3201B1-4BBF-8408-298D-E53567799AC9}"/>
          </ac:spMkLst>
        </pc:spChg>
        <pc:spChg chg="mod">
          <ac:chgData name="Χρήστος Αργυρόπουλος" userId="cdd370f164b32bdd" providerId="LiveId" clId="{C1CC9D05-92C7-4216-9F5F-DEE48F2173CC}" dt="2025-07-21T11:59:37.601" v="33" actId="27636"/>
          <ac:spMkLst>
            <pc:docMk/>
            <pc:sldMk cId="266194210" sldId="279"/>
            <ac:spMk id="3" creationId="{90173BA3-C0E0-3567-E28B-AA89BB59B78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φαλίδας 1">
            <a:extLst>
              <a:ext uri="{FF2B5EF4-FFF2-40B4-BE49-F238E27FC236}">
                <a16:creationId xmlns:a16="http://schemas.microsoft.com/office/drawing/2014/main" id="{C703FB87-790C-4850-A90C-12C5FF4B94D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l-GR"/>
          </a:p>
        </p:txBody>
      </p:sp>
      <p:sp>
        <p:nvSpPr>
          <p:cNvPr id="3" name="Θέση ημερομηνίας 2">
            <a:extLst>
              <a:ext uri="{FF2B5EF4-FFF2-40B4-BE49-F238E27FC236}">
                <a16:creationId xmlns:a16="http://schemas.microsoft.com/office/drawing/2014/main" id="{F8127921-F9C4-44F3-AC5F-130B6A406C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1BE9FD3-EFA8-4E5A-82F1-807EC1E592E4}" type="datetime1">
              <a:rPr lang="el-GR" smtClean="0"/>
              <a:t>23/7/2025</a:t>
            </a:fld>
            <a:endParaRPr lang="el-GR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4765E047-F1CB-4066-A459-9EDC95F2E61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l-GR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68A77EF5-5277-4BAF-8BB4-2E02103988E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B668C69-0C3E-40A2-B4A0-B2C8B71D8E3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05158627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φαλίδας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l-GR" noProof="0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9748A23-4C13-4F27-97DE-6D05476F3AB4}" type="datetime1">
              <a:rPr lang="el-GR" noProof="0" smtClean="0"/>
              <a:t>23/7/2025</a:t>
            </a:fld>
            <a:endParaRPr lang="el-GR" noProof="0"/>
          </a:p>
        </p:txBody>
      </p:sp>
      <p:sp>
        <p:nvSpPr>
          <p:cNvPr id="4" name="Θέση εικόνας διαφάνειας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l-GR" noProof="0"/>
          </a:p>
        </p:txBody>
      </p:sp>
      <p:sp>
        <p:nvSpPr>
          <p:cNvPr id="5" name="Θέση σημειώσεων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l-GR" noProof="0"/>
              <a:t>Κάντε κλικ για επεξεργασία των στυλ κειμένου του υποδείγματος</a:t>
            </a:r>
          </a:p>
          <a:p>
            <a:pPr lvl="1" rtl="0"/>
            <a:r>
              <a:rPr lang="el-GR" noProof="0"/>
              <a:t>Δεύτερου επιπέδου</a:t>
            </a:r>
          </a:p>
          <a:p>
            <a:pPr lvl="2" rtl="0"/>
            <a:r>
              <a:rPr lang="el-GR" noProof="0"/>
              <a:t>Τρίτου επιπέδου</a:t>
            </a:r>
          </a:p>
          <a:p>
            <a:pPr lvl="3" rtl="0"/>
            <a:r>
              <a:rPr lang="el-GR" noProof="0"/>
              <a:t>Τέταρτου επιπέδου</a:t>
            </a:r>
          </a:p>
          <a:p>
            <a:pPr lvl="4" rtl="0"/>
            <a:r>
              <a:rPr lang="el-GR" noProof="0"/>
              <a:t>Πέμπτου επιπέδου</a:t>
            </a:r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l-GR" noProof="0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E000EEB-8338-48D7-8EE8-EE0082EF7602}" type="slidenum">
              <a:rPr lang="el-GR" noProof="0" smtClean="0"/>
              <a:t>‹#›</a:t>
            </a:fld>
            <a:endParaRPr lang="el-GR" noProof="0"/>
          </a:p>
        </p:txBody>
      </p:sp>
    </p:spTree>
    <p:extLst>
      <p:ext uri="{BB962C8B-B14F-4D97-AF65-F5344CB8AC3E}">
        <p14:creationId xmlns:p14="http://schemas.microsoft.com/office/powerpoint/2010/main" val="376777018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l-GR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EE000EEB-8338-48D7-8EE8-EE0082EF7602}" type="slidenum">
              <a:rPr lang="el-GR" smtClean="0"/>
              <a:t>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005338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dirty="0"/>
              <a:t>Στόχος της εργασίας είναι η μελέτη της απόδοσης του 5G σε διαφορετικές συνθήκες λειτουργίας και παραμέτρους – όπως ο αριθμός χρηστών, το εύρος ζώνης και ο ρυθμός μετάδοσης δεδομένων.</a:t>
            </a:r>
          </a:p>
          <a:p>
            <a:r>
              <a:rPr lang="el-GR" dirty="0"/>
              <a:t>Για τον σκοπό αυτό, σχεδιάστηκαν προσομοιώσεις σε περιβάλλον MATLAB, με χρήση εργαλείων της 5G </a:t>
            </a:r>
            <a:r>
              <a:rPr lang="el-GR" dirty="0" err="1"/>
              <a:t>Toolbox</a:t>
            </a:r>
            <a:r>
              <a:rPr lang="el-GR" dirty="0"/>
              <a:t>. Οι προσομοιώσεις επέτρεψαν την παρακολούθηση κρίσιμων δεικτών απόδοσης, όπως ο ρυθμός μετάδοσης (</a:t>
            </a:r>
            <a:r>
              <a:rPr lang="el-GR" dirty="0" err="1"/>
              <a:t>throughput</a:t>
            </a:r>
            <a:r>
              <a:rPr lang="el-GR" dirty="0"/>
              <a:t>), ο ρυθμός σφαλμάτων πακέτων (BLER), η φασματική αποδοτικότητα (SE), καθώς και η δικαιοσύνη κατανομής πόρων ανά χρήστη, γνωστή ως </a:t>
            </a:r>
            <a:r>
              <a:rPr lang="el-GR" dirty="0" err="1"/>
              <a:t>fairness</a:t>
            </a:r>
            <a:r>
              <a:rPr lang="el-GR" dirty="0"/>
              <a:t>.</a:t>
            </a:r>
          </a:p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EE000EEB-8338-48D7-8EE8-EE0082EF7602}" type="slidenum">
              <a:rPr lang="el-GR" noProof="0" smtClean="0"/>
              <a:t>3</a:t>
            </a:fld>
            <a:endParaRPr lang="el-GR" noProof="0"/>
          </a:p>
        </p:txBody>
      </p:sp>
    </p:spTree>
    <p:extLst>
      <p:ext uri="{BB962C8B-B14F-4D97-AF65-F5344CB8AC3E}">
        <p14:creationId xmlns:p14="http://schemas.microsoft.com/office/powerpoint/2010/main" val="26364914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dirty="0"/>
              <a:t>Το 5G φέρνει τρεις βασικές κατηγορίες υπηρεσιών: την </a:t>
            </a:r>
            <a:r>
              <a:rPr lang="en-US"/>
              <a:t>Enhanced Mobile Broadband </a:t>
            </a:r>
            <a:r>
              <a:rPr lang="el-GR"/>
              <a:t>(</a:t>
            </a:r>
            <a:r>
              <a:rPr lang="el-GR" dirty="0" err="1"/>
              <a:t>eMBB</a:t>
            </a:r>
            <a:r>
              <a:rPr lang="el-GR" dirty="0"/>
              <a:t>), τις εφαρμογές εξαιρετικά χαμηλής καθυστέρησης και υψηλής αξιοπιστίας (URLLC), και την υποστήριξη τεράστιου αριθμού </a:t>
            </a:r>
            <a:r>
              <a:rPr lang="el-GR" dirty="0" err="1"/>
              <a:t>IoT</a:t>
            </a:r>
            <a:r>
              <a:rPr lang="el-GR" dirty="0"/>
              <a:t> συσκευών (</a:t>
            </a:r>
            <a:r>
              <a:rPr lang="el-GR" dirty="0" err="1"/>
              <a:t>mMTC</a:t>
            </a:r>
            <a:r>
              <a:rPr lang="el-GR" dirty="0"/>
              <a:t>).</a:t>
            </a:r>
          </a:p>
          <a:p>
            <a:r>
              <a:rPr lang="el-GR" dirty="0"/>
              <a:t>Για να υποστηριχθούν αυτές οι ανάγκες, ενσωματώνονται κρίσιμες τεχνολογίες όπως το </a:t>
            </a:r>
            <a:r>
              <a:rPr lang="el-GR" b="1" dirty="0" err="1"/>
              <a:t>Massive</a:t>
            </a:r>
            <a:r>
              <a:rPr lang="el-GR" b="1" dirty="0"/>
              <a:t> MIMO</a:t>
            </a:r>
            <a:r>
              <a:rPr lang="el-GR" dirty="0"/>
              <a:t>, που αυξάνει τη χωρητικότητα, το </a:t>
            </a:r>
            <a:r>
              <a:rPr lang="el-GR" b="1" dirty="0" err="1"/>
              <a:t>beamforming</a:t>
            </a:r>
            <a:r>
              <a:rPr lang="el-GR" dirty="0"/>
              <a:t>, που ενισχύει την ποιότητα σύνδεσης, και το </a:t>
            </a:r>
            <a:r>
              <a:rPr lang="el-GR" b="1" dirty="0" err="1"/>
              <a:t>full</a:t>
            </a:r>
            <a:r>
              <a:rPr lang="el-GR" b="1" dirty="0"/>
              <a:t> </a:t>
            </a:r>
            <a:r>
              <a:rPr lang="el-GR" b="1" dirty="0" err="1"/>
              <a:t>duplex</a:t>
            </a:r>
            <a:r>
              <a:rPr lang="el-GR" dirty="0"/>
              <a:t>, που διπλασιάζει θεωρητικά την αποδοτικότητα του καναλιού.</a:t>
            </a:r>
          </a:p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EE000EEB-8338-48D7-8EE8-EE0082EF7602}" type="slidenum">
              <a:rPr lang="el-GR" noProof="0" smtClean="0"/>
              <a:t>4</a:t>
            </a:fld>
            <a:endParaRPr lang="el-GR" noProof="0"/>
          </a:p>
        </p:txBody>
      </p:sp>
    </p:spTree>
    <p:extLst>
      <p:ext uri="{BB962C8B-B14F-4D97-AF65-F5344CB8AC3E}">
        <p14:creationId xmlns:p14="http://schemas.microsoft.com/office/powerpoint/2010/main" val="18980097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dirty="0"/>
              <a:t>Η πειραματική μελέτη πραγματοποιήθηκε στο MATLAB με χρήση της 5G </a:t>
            </a:r>
            <a:r>
              <a:rPr lang="el-GR" dirty="0" err="1"/>
              <a:t>Toolbox</a:t>
            </a:r>
            <a:r>
              <a:rPr lang="el-GR" dirty="0"/>
              <a:t>, η οποία υποστηρίζει προσομοιώσεις σε επίπεδο φυσικού και μέσου επιπέδου σύμφωνα με το πρότυπο 3GPP NR.</a:t>
            </a:r>
          </a:p>
          <a:p>
            <a:r>
              <a:rPr lang="el-GR" dirty="0"/>
              <a:t>Τα σενάρια που εξετάστηκαν καλύπτουν διαφορετικές ραδιοσυχνότητες, εύρη ζώνης και αριθμό χρηστών, ώστε να μελετηθεί πώς επηρεάζουν την απόδοση του δικτύου.</a:t>
            </a:r>
          </a:p>
          <a:p>
            <a:r>
              <a:rPr lang="el-GR" dirty="0"/>
              <a:t>Χρησιμοποιήθηκε το μοντέλο </a:t>
            </a:r>
            <a:r>
              <a:rPr lang="el-GR" dirty="0" err="1"/>
              <a:t>RMa</a:t>
            </a:r>
            <a:r>
              <a:rPr lang="el-GR" dirty="0"/>
              <a:t> για αγροτικές περιοχές, και δημιουργήθηκαν δύο τύποι κυκλοφορίας: στατικός, όπου η ροή δεδομένων είναι συνεχής, και δυναμικός, με προφίλ ON/OFF που εναλλάσσονται με τον χρόνο.</a:t>
            </a:r>
          </a:p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EE000EEB-8338-48D7-8EE8-EE0082EF7602}" type="slidenum">
              <a:rPr lang="el-GR" noProof="0" smtClean="0"/>
              <a:t>5</a:t>
            </a:fld>
            <a:endParaRPr lang="el-GR" noProof="0"/>
          </a:p>
        </p:txBody>
      </p:sp>
    </p:spTree>
    <p:extLst>
      <p:ext uri="{BB962C8B-B14F-4D97-AF65-F5344CB8AC3E}">
        <p14:creationId xmlns:p14="http://schemas.microsoft.com/office/powerpoint/2010/main" val="37190367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dirty="0"/>
              <a:t>Στα στατικά σενάρια, μελετήσαμε πώς επηρεάζεται η απόδοση του 5G συστήματος όταν αυξάνεται ο αριθμός των ταυτόχρονων χρηστών, διατηρώντας όμως σταθερή την κίνηση δεδομένων για όλους.</a:t>
            </a:r>
          </a:p>
          <a:p>
            <a:r>
              <a:rPr lang="el-GR" dirty="0"/>
              <a:t>Παρατηρήθηκε ότι όσο περισσότεροι χρήστες συνδέονται ταυτόχρονα, τόσο μειώνεται η συνολική απόδοση — τόσο στην καθοδική (</a:t>
            </a:r>
            <a:r>
              <a:rPr lang="el-GR" dirty="0" err="1"/>
              <a:t>downlink</a:t>
            </a:r>
            <a:r>
              <a:rPr lang="el-GR" dirty="0"/>
              <a:t>) όσο και στην ανοδική (</a:t>
            </a:r>
            <a:r>
              <a:rPr lang="el-GR" dirty="0" err="1"/>
              <a:t>uplink</a:t>
            </a:r>
            <a:r>
              <a:rPr lang="el-GR" dirty="0"/>
              <a:t>) κατεύθυνση.</a:t>
            </a:r>
          </a:p>
          <a:p>
            <a:r>
              <a:rPr lang="el-GR" dirty="0"/>
              <a:t>Η </a:t>
            </a:r>
            <a:r>
              <a:rPr lang="el-GR" b="1" dirty="0"/>
              <a:t>φασματική αποδοτικότητα</a:t>
            </a:r>
            <a:r>
              <a:rPr lang="el-GR" dirty="0"/>
              <a:t>, δηλαδή πόσο αποδοτικά χρησιμοποιείται το διαθέσιμο φάσμα, μειώνεται επειδή το δίκτυο δεν μπορεί να χρησιμοποιήσει υψηλές διαμορφώσεις (όπως QAM 64 ή 256) για όλους τους χρήστες μαζί.</a:t>
            </a:r>
          </a:p>
          <a:p>
            <a:r>
              <a:rPr lang="el-GR" dirty="0"/>
              <a:t>Οι χρήστες που βρίσκονται πιο μακριά από τον σταθμό βάσης αντιμετωπίζουν χειρότερη ποιότητα καναλιού και συνεπώς λαμβάνουν μικρότερο ρυθμό μετάδοσης.</a:t>
            </a:r>
          </a:p>
          <a:p>
            <a:r>
              <a:rPr lang="el-GR" dirty="0"/>
              <a:t>Αυτή η ανισορροπία δημιουργεί </a:t>
            </a:r>
            <a:r>
              <a:rPr lang="el-GR" b="1" dirty="0" err="1"/>
              <a:t>unfairness</a:t>
            </a:r>
            <a:r>
              <a:rPr lang="el-GR" dirty="0"/>
              <a:t>, δηλαδή αδικία στην κατανομή των πόρων.</a:t>
            </a:r>
          </a:p>
          <a:p>
            <a:r>
              <a:rPr lang="el-GR" dirty="0"/>
              <a:t>Τέλος, είδαμε ότι ο απλός προγραμματιστής </a:t>
            </a:r>
            <a:r>
              <a:rPr lang="el-GR" dirty="0" err="1"/>
              <a:t>Round</a:t>
            </a:r>
            <a:r>
              <a:rPr lang="el-GR" dirty="0"/>
              <a:t> </a:t>
            </a:r>
            <a:r>
              <a:rPr lang="el-GR" dirty="0" err="1"/>
              <a:t>Robin</a:t>
            </a:r>
            <a:r>
              <a:rPr lang="el-GR" dirty="0"/>
              <a:t> δεν μπορεί να προσαρμοστεί στις διαφορετικές ανάγκες των χρηστών και οδηγεί το σύστημα σε κορεσμό, χωρίς να αξιοποιούνται οι διαθέσιμοι πόροι με τον πιο αποδοτικό τρόπο.</a:t>
            </a:r>
          </a:p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EE000EEB-8338-48D7-8EE8-EE0082EF7602}" type="slidenum">
              <a:rPr lang="el-GR" noProof="0" smtClean="0"/>
              <a:t>6</a:t>
            </a:fld>
            <a:endParaRPr lang="el-GR" noProof="0"/>
          </a:p>
        </p:txBody>
      </p:sp>
    </p:spTree>
    <p:extLst>
      <p:ext uri="{BB962C8B-B14F-4D97-AF65-F5344CB8AC3E}">
        <p14:creationId xmlns:p14="http://schemas.microsoft.com/office/powerpoint/2010/main" val="35483641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l-GR" dirty="0"/>
              <a:t>Το γράφημα αυτό απεικονίζει τη μέση και ελάχιστη απόδοση ανά χρήστη, τόσο στο </a:t>
            </a:r>
            <a:r>
              <a:rPr lang="el-GR" dirty="0" err="1"/>
              <a:t>downlink</a:t>
            </a:r>
            <a:r>
              <a:rPr lang="el-GR" dirty="0"/>
              <a:t> όσο και στο </a:t>
            </a:r>
            <a:r>
              <a:rPr lang="el-GR" dirty="0" err="1"/>
              <a:t>uplink</a:t>
            </a:r>
            <a:r>
              <a:rPr lang="el-GR" dirty="0"/>
              <a:t>, για τέσσερα διαφορετικά σενάρια με αυξανόμενο αριθμό χρηστών.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l-GR" dirty="0"/>
              <a:t>Όπως φαίνεται, όσο αυξάνεται ο αριθμός των ταυτόχρονων χρηστών, παρατηρείται σημαντική πτώση στην απόδοση ανά χρήστη. Αυτό είναι ιδιαίτερα έντονο στον </a:t>
            </a:r>
            <a:r>
              <a:rPr lang="el-GR" dirty="0" err="1"/>
              <a:t>uplink</a:t>
            </a:r>
            <a:r>
              <a:rPr lang="el-GR" dirty="0"/>
              <a:t>, όπου οι φυσικοί πόροι είναι περιορισμένοι.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l-GR" dirty="0"/>
              <a:t>Η ελάχιστη τιμή στο κάθε σενάριο αντιστοιχεί στον χρήστη με τις χειρότερες συνθήκες πρόσβασης — στο σενάριο με 4 UE πρόκειται για τον </a:t>
            </a:r>
            <a:r>
              <a:rPr lang="el-GR" b="1" dirty="0"/>
              <a:t>UE4</a:t>
            </a:r>
            <a:r>
              <a:rPr lang="el-GR" dirty="0"/>
              <a:t>, ο οποίος βρίσκεται σε απόσταση </a:t>
            </a:r>
            <a:r>
              <a:rPr lang="el-GR" b="1" dirty="0"/>
              <a:t>3 </a:t>
            </a:r>
            <a:r>
              <a:rPr lang="el-GR" b="1" dirty="0" err="1"/>
              <a:t>km</a:t>
            </a:r>
            <a:r>
              <a:rPr lang="el-GR" dirty="0"/>
              <a:t> από τον σταθμό βάσης και έχει </a:t>
            </a:r>
            <a:r>
              <a:rPr lang="el-GR" b="1" dirty="0"/>
              <a:t>χαμηλό SINR</a:t>
            </a:r>
            <a:r>
              <a:rPr lang="el-GR" dirty="0"/>
              <a:t>.</a:t>
            </a:r>
            <a:br>
              <a:rPr lang="el-GR" dirty="0"/>
            </a:br>
            <a:r>
              <a:rPr lang="el-GR" dirty="0"/>
              <a:t>Η χαμηλή του απόδοση </a:t>
            </a:r>
            <a:r>
              <a:rPr lang="el-GR" b="1" dirty="0"/>
              <a:t>δεν οφείλεται σε άνιση κατανομή πόρων</a:t>
            </a:r>
            <a:r>
              <a:rPr lang="el-GR" dirty="0"/>
              <a:t>, αλλά σε αδυναμία αξιοποίησης του ίδιου μεριδίου, που δίνεται σε όλους, λόγω των κακών </a:t>
            </a:r>
            <a:r>
              <a:rPr lang="el-GR" dirty="0" err="1"/>
              <a:t>ραδιοσυνθηκών</a:t>
            </a:r>
            <a:r>
              <a:rPr lang="el-GR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l-GR" dirty="0"/>
              <a:t>Ο </a:t>
            </a:r>
            <a:r>
              <a:rPr lang="el-GR" b="1" dirty="0" err="1"/>
              <a:t>scheduler</a:t>
            </a:r>
            <a:r>
              <a:rPr lang="el-GR" b="1" dirty="0"/>
              <a:t> </a:t>
            </a:r>
            <a:r>
              <a:rPr lang="el-GR" b="1" dirty="0" err="1"/>
              <a:t>Round</a:t>
            </a:r>
            <a:r>
              <a:rPr lang="el-GR" b="1" dirty="0"/>
              <a:t> </a:t>
            </a:r>
            <a:r>
              <a:rPr lang="el-GR" b="1" dirty="0" err="1"/>
              <a:t>Robin</a:t>
            </a:r>
            <a:r>
              <a:rPr lang="el-GR" dirty="0"/>
              <a:t> λειτουργεί με ισομερή κατανομή χρόνου στους χρήστες, χωρίς να λαμβάνει υπόψη την ποιότητα του καναλιού. Άρα, είναι δίκαιος ως προς το χρόνο, αλλά </a:t>
            </a:r>
            <a:r>
              <a:rPr lang="el-GR" b="1" dirty="0"/>
              <a:t>όχι κατ’ ανάγκη αποδοτικός</a:t>
            </a:r>
            <a:r>
              <a:rPr lang="el-GR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l-GR" dirty="0"/>
              <a:t>Αξίζει επίσης να αναφέρω ότι τα αποτελέσματα αυτά προέρχονται από ένα </a:t>
            </a:r>
            <a:r>
              <a:rPr lang="el-GR" b="1" dirty="0"/>
              <a:t>μέσο σενάριο</a:t>
            </a:r>
            <a:r>
              <a:rPr lang="el-GR" dirty="0"/>
              <a:t> — με </a:t>
            </a:r>
            <a:r>
              <a:rPr lang="el-GR" b="1" dirty="0"/>
              <a:t>εύρος ζώνης 10 </a:t>
            </a:r>
            <a:r>
              <a:rPr lang="el-GR" b="1" dirty="0" err="1"/>
              <a:t>MHz</a:t>
            </a:r>
            <a:r>
              <a:rPr lang="el-GR" dirty="0"/>
              <a:t> και </a:t>
            </a:r>
            <a:r>
              <a:rPr lang="el-GR" b="1" dirty="0"/>
              <a:t>ρυθμό εφαρμογής 5 </a:t>
            </a:r>
            <a:r>
              <a:rPr lang="el-GR" b="1" dirty="0" err="1"/>
              <a:t>Gbps</a:t>
            </a:r>
            <a:r>
              <a:rPr lang="el-GR" dirty="0"/>
              <a:t>.</a:t>
            </a:r>
            <a:br>
              <a:rPr lang="el-GR" dirty="0"/>
            </a:br>
            <a:r>
              <a:rPr lang="el-GR" dirty="0"/>
              <a:t>Οι τιμές αυτές δεν βρίσκονται στα άκρα των παραμετρικών συνθηκών που μελετήθηκαν, αφού στο σύνολο των πειραμάτων εξετάστηκαν </a:t>
            </a:r>
            <a:r>
              <a:rPr lang="el-GR" b="1" dirty="0" err="1"/>
              <a:t>bandwidths</a:t>
            </a:r>
            <a:r>
              <a:rPr lang="el-GR" b="1" dirty="0"/>
              <a:t> 5–15 </a:t>
            </a:r>
            <a:r>
              <a:rPr lang="el-GR" b="1" dirty="0" err="1"/>
              <a:t>MHz</a:t>
            </a:r>
            <a:r>
              <a:rPr lang="el-GR" dirty="0"/>
              <a:t> και </a:t>
            </a:r>
            <a:r>
              <a:rPr lang="el-GR" b="1" dirty="0" err="1"/>
              <a:t>AppDataRate</a:t>
            </a:r>
            <a:r>
              <a:rPr lang="el-GR" b="1" dirty="0"/>
              <a:t> από 40 </a:t>
            </a:r>
            <a:r>
              <a:rPr lang="el-GR" b="1" dirty="0" err="1"/>
              <a:t>kbps</a:t>
            </a:r>
            <a:r>
              <a:rPr lang="el-GR" b="1" dirty="0"/>
              <a:t> έως 20 </a:t>
            </a:r>
            <a:r>
              <a:rPr lang="el-GR" b="1" dirty="0" err="1"/>
              <a:t>Gbps</a:t>
            </a:r>
            <a:r>
              <a:rPr lang="el-GR" dirty="0"/>
              <a:t>.</a:t>
            </a:r>
            <a:br>
              <a:rPr lang="el-GR" dirty="0"/>
            </a:br>
            <a:r>
              <a:rPr lang="el-GR" dirty="0"/>
              <a:t>Επομένως, το γράφημα αντιπροσωπεύει </a:t>
            </a:r>
            <a:r>
              <a:rPr lang="el-GR" b="1" dirty="0"/>
              <a:t>τυπική και ρεαλιστική συμπεριφορά του συστήματος</a:t>
            </a:r>
            <a:r>
              <a:rPr lang="el-GR" dirty="0"/>
              <a:t> υπό σταθερές, ελεγχόμενες συνθήκες.</a:t>
            </a:r>
          </a:p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EE000EEB-8338-48D7-8EE8-EE0082EF7602}" type="slidenum">
              <a:rPr lang="el-GR" noProof="0" smtClean="0"/>
              <a:t>7</a:t>
            </a:fld>
            <a:endParaRPr lang="el-GR" noProof="0"/>
          </a:p>
        </p:txBody>
      </p:sp>
    </p:spTree>
    <p:extLst>
      <p:ext uri="{BB962C8B-B14F-4D97-AF65-F5344CB8AC3E}">
        <p14:creationId xmlns:p14="http://schemas.microsoft.com/office/powerpoint/2010/main" val="2690569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C0042-86B2-4730-7A55-8221C31F1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B0671C74-3AA4-4F25-F262-D323439807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4B73841E-608F-5DAF-292B-4222B62C2B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l-GR" dirty="0"/>
              <a:t>Στο δυναμικό σενάριο, μελετήσαμε πώς συμπεριφέρεται το δίκτυο όταν οι χρήστες ενεργοποιούνται και απενεργοποιούνται σε τυχαίες χρονικές στιγμές. Αυτό προσομοιώνει μοντέρνες εφαρμογές όπως το </a:t>
            </a:r>
            <a:r>
              <a:rPr lang="el-GR" dirty="0" err="1"/>
              <a:t>browsing</a:t>
            </a:r>
            <a:r>
              <a:rPr lang="el-GR" dirty="0"/>
              <a:t> ή τα </a:t>
            </a:r>
            <a:r>
              <a:rPr lang="el-GR" dirty="0" err="1"/>
              <a:t>push</a:t>
            </a:r>
            <a:r>
              <a:rPr lang="el-GR" dirty="0"/>
              <a:t> </a:t>
            </a:r>
            <a:r>
              <a:rPr lang="el-GR" dirty="0" err="1"/>
              <a:t>notifications</a:t>
            </a:r>
            <a:r>
              <a:rPr lang="el-GR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l-GR" dirty="0"/>
              <a:t>Παρά τη χρονική ασυμβατότητα των ON/OFF κύκλων, το σύστημα </a:t>
            </a:r>
            <a:r>
              <a:rPr lang="el-GR" b="1" dirty="0"/>
              <a:t>διατήρησε σταθερή απόδοση</a:t>
            </a:r>
            <a:r>
              <a:rPr lang="el-GR" dirty="0"/>
              <a:t>, καθώς ο </a:t>
            </a:r>
            <a:r>
              <a:rPr lang="el-GR" dirty="0" err="1"/>
              <a:t>scheduler</a:t>
            </a:r>
            <a:r>
              <a:rPr lang="el-GR" dirty="0"/>
              <a:t> φαίνεται να δίνει προτεραιότητα σε χρήστες με δεδομένα προς αποστολή — όχι απλώς βάσει του γύρου.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l-GR" dirty="0"/>
              <a:t>Το φάσμα αξιοποιήθηκε </a:t>
            </a:r>
            <a:r>
              <a:rPr lang="el-GR" b="1" dirty="0"/>
              <a:t>αποτελεσματικά</a:t>
            </a:r>
            <a:r>
              <a:rPr lang="el-GR" dirty="0"/>
              <a:t> και </a:t>
            </a:r>
            <a:r>
              <a:rPr lang="el-GR" b="1" dirty="0"/>
              <a:t>δεν προέκυψε συμφόρηση</a:t>
            </a:r>
            <a:r>
              <a:rPr lang="el-GR" dirty="0"/>
              <a:t>, γεγονός που αποδεικνύει την </a:t>
            </a:r>
            <a:r>
              <a:rPr lang="el-GR" b="1" dirty="0"/>
              <a:t>ευρωστία της υλοποίησης</a:t>
            </a:r>
            <a:r>
              <a:rPr lang="el-GR" dirty="0"/>
              <a:t>, ακόμη και υπό χρονικά μεταβαλλόμενο φόρτο.</a:t>
            </a:r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524486C9-0F99-DC51-BA36-C3802DD55A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EE000EEB-8338-48D7-8EE8-EE0082EF7602}" type="slidenum">
              <a:rPr lang="el-GR" noProof="0" smtClean="0"/>
              <a:t>8</a:t>
            </a:fld>
            <a:endParaRPr lang="el-GR" noProof="0"/>
          </a:p>
        </p:txBody>
      </p:sp>
    </p:spTree>
    <p:extLst>
      <p:ext uri="{BB962C8B-B14F-4D97-AF65-F5344CB8AC3E}">
        <p14:creationId xmlns:p14="http://schemas.microsoft.com/office/powerpoint/2010/main" val="40166865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3BAEA-CAD8-27E7-0B0F-FDFD501CD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69EA1676-2887-A209-7F53-1D5035C275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41459866-A27A-042C-B277-70FDFF233A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dirty="0"/>
              <a:t>Το γράφημα του </a:t>
            </a:r>
            <a:r>
              <a:rPr lang="el-GR" dirty="0" err="1"/>
              <a:t>buffer</a:t>
            </a:r>
            <a:r>
              <a:rPr lang="el-GR" dirty="0"/>
              <a:t> μάς δείχνει καθαρά </a:t>
            </a:r>
            <a:r>
              <a:rPr lang="el-GR" b="1" dirty="0"/>
              <a:t>ποιοι χρήστες έχουν ενεργή κίνηση</a:t>
            </a:r>
            <a:r>
              <a:rPr lang="el-GR" dirty="0"/>
              <a:t> και πότε.</a:t>
            </a:r>
            <a:br>
              <a:rPr lang="el-GR" dirty="0"/>
            </a:br>
            <a:r>
              <a:rPr lang="el-GR" dirty="0"/>
              <a:t>Ο </a:t>
            </a:r>
            <a:r>
              <a:rPr lang="el-GR" b="1" dirty="0"/>
              <a:t>UE1</a:t>
            </a:r>
            <a:r>
              <a:rPr lang="el-GR" dirty="0"/>
              <a:t> έχει διαρκώς γεμάτο </a:t>
            </a:r>
            <a:r>
              <a:rPr lang="el-GR" dirty="0" err="1"/>
              <a:t>buffer</a:t>
            </a:r>
            <a:r>
              <a:rPr lang="el-GR" dirty="0"/>
              <a:t>, επιβεβαιώνοντας τη συνεχή του δραστηριότητα.</a:t>
            </a:r>
            <a:br>
              <a:rPr lang="el-GR" dirty="0"/>
            </a:br>
            <a:r>
              <a:rPr lang="el-GR" dirty="0"/>
              <a:t>Ο </a:t>
            </a:r>
            <a:r>
              <a:rPr lang="el-GR" b="1" dirty="0"/>
              <a:t>UE2</a:t>
            </a:r>
            <a:r>
              <a:rPr lang="el-GR" dirty="0"/>
              <a:t> ξεκινά με σταθερό </a:t>
            </a:r>
            <a:r>
              <a:rPr lang="el-GR" dirty="0" err="1"/>
              <a:t>buffer</a:t>
            </a:r>
            <a:r>
              <a:rPr lang="el-GR" dirty="0"/>
              <a:t> αλλά από τη μέση και μετά </a:t>
            </a:r>
            <a:r>
              <a:rPr lang="el-GR" b="1" dirty="0"/>
              <a:t>ο </a:t>
            </a:r>
            <a:r>
              <a:rPr lang="el-GR" b="1" dirty="0" err="1"/>
              <a:t>buffer</a:t>
            </a:r>
            <a:r>
              <a:rPr lang="el-GR" b="1" dirty="0"/>
              <a:t> αδειάζει</a:t>
            </a:r>
            <a:r>
              <a:rPr lang="el-GR" dirty="0"/>
              <a:t>, καθώς ολοκληρώνεται η φάση ON και μπαίνει σε OFF.</a:t>
            </a:r>
          </a:p>
          <a:p>
            <a:r>
              <a:rPr lang="el-GR" dirty="0"/>
              <a:t>Οι </a:t>
            </a:r>
            <a:r>
              <a:rPr lang="el-GR" b="1" dirty="0"/>
              <a:t>UE3 και UE4</a:t>
            </a:r>
            <a:r>
              <a:rPr lang="el-GR" dirty="0"/>
              <a:t> έχουν πολύ χαρακτηριστική συμπεριφορά, με </a:t>
            </a:r>
            <a:r>
              <a:rPr lang="el-GR" b="1" dirty="0"/>
              <a:t>περιοδικά γεμίσματα και αδειάσματα του </a:t>
            </a:r>
            <a:r>
              <a:rPr lang="el-GR" b="1" dirty="0" err="1"/>
              <a:t>buffer</a:t>
            </a:r>
            <a:r>
              <a:rPr lang="el-GR" dirty="0"/>
              <a:t>, συμβατά με τα σύντομα ON/OFF προφίλ τους.</a:t>
            </a:r>
          </a:p>
          <a:p>
            <a:r>
              <a:rPr lang="el-GR" dirty="0"/>
              <a:t>Αυτό αποδεικνύει ότι η δραστηριότητα δεν είναι απλώς θεωρητική – το σύστημα διαχειρίζεται </a:t>
            </a:r>
            <a:r>
              <a:rPr lang="el-GR" b="1" dirty="0"/>
              <a:t>πραγματικά δεδομένα</a:t>
            </a:r>
            <a:r>
              <a:rPr lang="el-GR" dirty="0"/>
              <a:t>, με ουρές που αυξομειώνονται, όπως σε ένα πραγματικό δίκτυο.</a:t>
            </a:r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F27A8864-AE3E-1050-0727-40D9FE9673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EE000EEB-8338-48D7-8EE8-EE0082EF7602}" type="slidenum">
              <a:rPr lang="el-GR" noProof="0" smtClean="0"/>
              <a:t>9</a:t>
            </a:fld>
            <a:endParaRPr lang="el-GR" noProof="0"/>
          </a:p>
        </p:txBody>
      </p:sp>
    </p:spTree>
    <p:extLst>
      <p:ext uri="{BB962C8B-B14F-4D97-AF65-F5344CB8AC3E}">
        <p14:creationId xmlns:p14="http://schemas.microsoft.com/office/powerpoint/2010/main" val="40489244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dirty="0"/>
              <a:t>Μετά το </a:t>
            </a:r>
            <a:r>
              <a:rPr lang="el-GR" dirty="0" err="1"/>
              <a:t>buffer</a:t>
            </a:r>
            <a:r>
              <a:rPr lang="el-GR" dirty="0"/>
              <a:t>, βλέπουμε το τελικό αποτέλεσμα: </a:t>
            </a:r>
            <a:r>
              <a:rPr lang="el-GR" b="1" dirty="0"/>
              <a:t>το </a:t>
            </a:r>
            <a:r>
              <a:rPr lang="el-GR" b="1" dirty="0" err="1"/>
              <a:t>throughput</a:t>
            </a:r>
            <a:r>
              <a:rPr lang="el-GR" dirty="0"/>
              <a:t> ανά χρήστη.</a:t>
            </a:r>
            <a:br>
              <a:rPr lang="el-GR" dirty="0"/>
            </a:br>
            <a:r>
              <a:rPr lang="el-GR" dirty="0"/>
              <a:t>Ο </a:t>
            </a:r>
            <a:r>
              <a:rPr lang="el-GR" b="1" dirty="0"/>
              <a:t>UE1</a:t>
            </a:r>
            <a:r>
              <a:rPr lang="el-GR" dirty="0"/>
              <a:t> κρατάει μια σταθερή γραμμή απόδοσης, όπως περιμέναμε.</a:t>
            </a:r>
            <a:br>
              <a:rPr lang="el-GR" dirty="0"/>
            </a:br>
            <a:r>
              <a:rPr lang="el-GR" dirty="0"/>
              <a:t>Ο </a:t>
            </a:r>
            <a:r>
              <a:rPr lang="el-GR" b="1" dirty="0"/>
              <a:t>UE2</a:t>
            </a:r>
            <a:r>
              <a:rPr lang="el-GR" dirty="0"/>
              <a:t> έχει πτώση στο τέλος, καθώς ο </a:t>
            </a:r>
            <a:r>
              <a:rPr lang="el-GR" dirty="0" err="1"/>
              <a:t>buffer</a:t>
            </a:r>
            <a:r>
              <a:rPr lang="el-GR" dirty="0"/>
              <a:t> του έχει αδειάσει και δεν έχει άλλα πακέτα προς μετάδοση.</a:t>
            </a:r>
          </a:p>
          <a:p>
            <a:r>
              <a:rPr lang="el-GR" dirty="0"/>
              <a:t>Οι </a:t>
            </a:r>
            <a:r>
              <a:rPr lang="el-GR" b="1" dirty="0"/>
              <a:t>UE3 και UE4</a:t>
            </a:r>
            <a:r>
              <a:rPr lang="el-GR" dirty="0"/>
              <a:t>, ενώ είναι περιοδικά ενεργοί, </a:t>
            </a:r>
            <a:r>
              <a:rPr lang="el-GR" b="1" dirty="0"/>
              <a:t>εμφανίζουν αύξηση του </a:t>
            </a:r>
            <a:r>
              <a:rPr lang="el-GR" b="1" dirty="0" err="1"/>
              <a:t>throughput</a:t>
            </a:r>
            <a:r>
              <a:rPr lang="el-GR" b="1" dirty="0"/>
              <a:t> προς το τέλος</a:t>
            </a:r>
            <a:r>
              <a:rPr lang="el-GR" dirty="0"/>
              <a:t>. Αυτό συμβαίνει επειδή ο UE2 αποσύρεται και </a:t>
            </a:r>
            <a:r>
              <a:rPr lang="el-GR" b="1" dirty="0"/>
              <a:t>το φάσμα απελευθερώνεται</a:t>
            </a:r>
            <a:r>
              <a:rPr lang="el-GR" dirty="0"/>
              <a:t>.</a:t>
            </a:r>
            <a:br>
              <a:rPr lang="el-GR" dirty="0"/>
            </a:br>
            <a:r>
              <a:rPr lang="el-GR" dirty="0"/>
              <a:t>Το σύστημα το εντοπίζει και </a:t>
            </a:r>
            <a:r>
              <a:rPr lang="el-GR" b="1" dirty="0"/>
              <a:t>ανακατανέμει τους πόρους στους UE3 και UE4</a:t>
            </a:r>
            <a:r>
              <a:rPr lang="el-GR" dirty="0"/>
              <a:t>, οι οποίοι έχουν γεμάτο </a:t>
            </a:r>
            <a:r>
              <a:rPr lang="el-GR" dirty="0" err="1"/>
              <a:t>buffer</a:t>
            </a:r>
            <a:r>
              <a:rPr lang="el-GR" dirty="0"/>
              <a:t> και ανάγκη εξυπηρέτησης.</a:t>
            </a:r>
          </a:p>
          <a:p>
            <a:r>
              <a:rPr lang="el-GR" dirty="0"/>
              <a:t>Παρά τη συνεχή παρουσία του UE1, οι UE3 και UE4 καταλήγουν να λαμβάνουν μεγαλύτερο </a:t>
            </a:r>
            <a:r>
              <a:rPr lang="el-GR" dirty="0" err="1"/>
              <a:t>throughput</a:t>
            </a:r>
            <a:r>
              <a:rPr lang="el-GR" dirty="0"/>
              <a:t> — όχι λόγω αδικίας, αλλά επειδή το σύστημα </a:t>
            </a:r>
            <a:r>
              <a:rPr lang="el-GR" b="1" dirty="0"/>
              <a:t>δίνει προτεραιότητα στη ζήτηση που φαίνεται στον </a:t>
            </a:r>
            <a:r>
              <a:rPr lang="el-GR" b="1" dirty="0" err="1"/>
              <a:t>buffer</a:t>
            </a:r>
            <a:r>
              <a:rPr lang="el-GR" dirty="0"/>
              <a:t>.</a:t>
            </a:r>
          </a:p>
          <a:p>
            <a:r>
              <a:rPr lang="el-GR" dirty="0"/>
              <a:t>Έτσι, ο </a:t>
            </a:r>
            <a:r>
              <a:rPr lang="el-GR" dirty="0" err="1"/>
              <a:t>scheduler</a:t>
            </a:r>
            <a:r>
              <a:rPr lang="el-GR" dirty="0"/>
              <a:t> λειτουργεί </a:t>
            </a:r>
            <a:r>
              <a:rPr lang="el-GR" b="1" dirty="0"/>
              <a:t>πραγματικά έξυπνα</a:t>
            </a:r>
            <a:r>
              <a:rPr lang="el-GR" dirty="0"/>
              <a:t>, διατηρώντας ισορροπία μεταξύ σταθερότητας και δυναμικής προσαρμογής.</a:t>
            </a:r>
          </a:p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EE000EEB-8338-48D7-8EE8-EE0082EF7602}" type="slidenum">
              <a:rPr lang="el-GR" noProof="0" smtClean="0"/>
              <a:t>10</a:t>
            </a:fld>
            <a:endParaRPr lang="el-GR" noProof="0"/>
          </a:p>
        </p:txBody>
      </p:sp>
    </p:spTree>
    <p:extLst>
      <p:ext uri="{BB962C8B-B14F-4D97-AF65-F5344CB8AC3E}">
        <p14:creationId xmlns:p14="http://schemas.microsoft.com/office/powerpoint/2010/main" val="28281530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dirty="0"/>
              <a:t>🔹 </a:t>
            </a:r>
            <a:r>
              <a:rPr lang="el-GR" b="1" dirty="0"/>
              <a:t>«Ξεκινώντας από τα στατικά σενάρια…»</a:t>
            </a:r>
            <a:br>
              <a:rPr lang="el-GR" dirty="0"/>
            </a:br>
            <a:r>
              <a:rPr lang="el-GR" dirty="0"/>
              <a:t>Παρατηρήθηκε ότι όσο αυξάνεται ο αριθμός των χρηστών (</a:t>
            </a:r>
            <a:r>
              <a:rPr lang="el-GR" dirty="0" err="1"/>
              <a:t>UEs</a:t>
            </a:r>
            <a:r>
              <a:rPr lang="el-GR" dirty="0"/>
              <a:t>), τόσο μειώνεται η συνολική απόδοση του συστήματος. Αυτό οφείλεται στον ανταγωνισμό για τους διαθέσιμους πόρους, που επηρεάζει άμεσα το </a:t>
            </a:r>
            <a:r>
              <a:rPr lang="el-GR" dirty="0" err="1"/>
              <a:t>throughput</a:t>
            </a:r>
            <a:r>
              <a:rPr lang="el-GR" dirty="0"/>
              <a:t> και τη φασματική αποδοτικότητα.</a:t>
            </a:r>
            <a:br>
              <a:rPr lang="el-GR" dirty="0"/>
            </a:br>
            <a:r>
              <a:rPr lang="el-GR" dirty="0"/>
              <a:t>Επιπλέον, χρήστες που βρίσκονται πιο μακριά από τον σταθμό βάσης είχαν υψηλό BLER και πολλές φορές δεν έπαιρναν σχεδόν καθόλου πόρους.</a:t>
            </a:r>
            <a:br>
              <a:rPr lang="el-GR" dirty="0"/>
            </a:br>
            <a:r>
              <a:rPr lang="el-GR" dirty="0"/>
              <a:t>Αυτό οφείλεται στον απλό αλγόριθμο </a:t>
            </a:r>
            <a:r>
              <a:rPr lang="el-GR" dirty="0" err="1"/>
              <a:t>Round</a:t>
            </a:r>
            <a:r>
              <a:rPr lang="el-GR" dirty="0"/>
              <a:t> </a:t>
            </a:r>
            <a:r>
              <a:rPr lang="el-GR" dirty="0" err="1"/>
              <a:t>Robin</a:t>
            </a:r>
            <a:r>
              <a:rPr lang="el-GR" dirty="0"/>
              <a:t>, που κατανέμει πόρους κυκλικά και </a:t>
            </a:r>
            <a:r>
              <a:rPr lang="el-GR" b="1" dirty="0"/>
              <a:t>δεν λαμβάνει υπόψη την ποιότητα σύνδεσης</a:t>
            </a:r>
            <a:r>
              <a:rPr lang="el-GR" dirty="0"/>
              <a:t> (SINR). Άρα βλέπουμε ότι δεν είναι κατάλληλος σε δύσκολες ή μεταβαλλόμενες συνθήκες.</a:t>
            </a:r>
          </a:p>
          <a:p>
            <a:r>
              <a:rPr lang="el-GR" dirty="0"/>
              <a:t>🔹 </a:t>
            </a:r>
            <a:r>
              <a:rPr lang="el-GR" b="1" dirty="0"/>
              <a:t>«Στο δυναμικό σενάριο…»</a:t>
            </a:r>
            <a:br>
              <a:rPr lang="el-GR" dirty="0"/>
            </a:br>
            <a:r>
              <a:rPr lang="el-GR" dirty="0"/>
              <a:t>Η κατάσταση βελτιώνεται. Επειδή οι χρήστες δεν έχουν συνεχή κίνηση (on/</a:t>
            </a:r>
            <a:r>
              <a:rPr lang="el-GR" dirty="0" err="1"/>
              <a:t>off</a:t>
            </a:r>
            <a:r>
              <a:rPr lang="el-GR" dirty="0"/>
              <a:t>), οι πόροι κατανέμονται πιο ευέλικτα.</a:t>
            </a:r>
            <a:br>
              <a:rPr lang="el-GR" dirty="0"/>
            </a:br>
            <a:r>
              <a:rPr lang="el-GR" dirty="0"/>
              <a:t>Όσοι έχουν ενεργή κίνηση επωφελούνται με καλύτερη απόδοση, και γενικά το σύστημα αποδίδει πιο ομαλά και ρεαλιστικά.</a:t>
            </a:r>
            <a:br>
              <a:rPr lang="el-GR" dirty="0"/>
            </a:br>
            <a:r>
              <a:rPr lang="el-GR" dirty="0"/>
              <a:t>Παρατηρείται λιγότερη συμφόρηση και καλύτερη χρήση των διαθέσιμων </a:t>
            </a:r>
            <a:r>
              <a:rPr lang="el-GR" dirty="0" err="1"/>
              <a:t>RBs</a:t>
            </a:r>
            <a:r>
              <a:rPr lang="el-GR" dirty="0"/>
              <a:t> χωρίς να χρησιμοποιήσουμε πιο σύνθετους αλγορίθμους </a:t>
            </a:r>
            <a:r>
              <a:rPr lang="el-GR" dirty="0" err="1"/>
              <a:t>scheduling</a:t>
            </a:r>
            <a:r>
              <a:rPr lang="el-GR" dirty="0"/>
              <a:t>.</a:t>
            </a:r>
          </a:p>
          <a:p>
            <a:r>
              <a:rPr lang="el-GR" dirty="0"/>
              <a:t>🔹 </a:t>
            </a:r>
            <a:r>
              <a:rPr lang="el-GR" b="1" dirty="0"/>
              <a:t>«Συνολικά, βλέπουμε ότι…»</a:t>
            </a:r>
            <a:br>
              <a:rPr lang="el-GR" dirty="0"/>
            </a:br>
            <a:r>
              <a:rPr lang="el-GR" dirty="0"/>
              <a:t>Η προσομοίωση αναδεικνύει πόσο σημαντική είναι η έξυπνη κατανομή πόρων. Ένας αλγόριθμος που προσαρμόζεται στις πραγματικές συνθήκες, όπως το </a:t>
            </a:r>
            <a:r>
              <a:rPr lang="el-GR" dirty="0" err="1"/>
              <a:t>traffic</a:t>
            </a:r>
            <a:r>
              <a:rPr lang="el-GR" dirty="0"/>
              <a:t> ή το SINR, θα μπορούσε να αποφέρει σημαντικά οφέλη σε σύγκριση με τον </a:t>
            </a:r>
            <a:r>
              <a:rPr lang="el-GR" dirty="0" err="1"/>
              <a:t>Round</a:t>
            </a:r>
            <a:r>
              <a:rPr lang="el-GR" dirty="0"/>
              <a:t> </a:t>
            </a:r>
            <a:r>
              <a:rPr lang="el-GR" dirty="0" err="1"/>
              <a:t>Robin</a:t>
            </a:r>
            <a:r>
              <a:rPr lang="el-GR" dirty="0"/>
              <a:t>.</a:t>
            </a:r>
            <a:br>
              <a:rPr lang="el-GR" dirty="0"/>
            </a:br>
            <a:r>
              <a:rPr lang="el-GR" dirty="0"/>
              <a:t>Άρα, για μελλοντική βελτίωση του συστήματος, η εισαγωγή πιο εξελιγμένων </a:t>
            </a:r>
            <a:r>
              <a:rPr lang="el-GR" dirty="0" err="1"/>
              <a:t>schedulers</a:t>
            </a:r>
            <a:r>
              <a:rPr lang="el-GR" dirty="0"/>
              <a:t> θα ήταν επόμενο βήμα.</a:t>
            </a:r>
          </a:p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EE000EEB-8338-48D7-8EE8-EE0082EF7602}" type="slidenum">
              <a:rPr lang="el-GR" noProof="0" smtClean="0"/>
              <a:t>11</a:t>
            </a:fld>
            <a:endParaRPr lang="el-GR" noProof="0"/>
          </a:p>
        </p:txBody>
      </p:sp>
    </p:spTree>
    <p:extLst>
      <p:ext uri="{BB962C8B-B14F-4D97-AF65-F5344CB8AC3E}">
        <p14:creationId xmlns:p14="http://schemas.microsoft.com/office/powerpoint/2010/main" val="14062873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l-GR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EE000EEB-8338-48D7-8EE8-EE0082EF7602}" type="slidenum">
              <a:rPr lang="el-GR" smtClean="0"/>
              <a:t>12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672966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 hasCustomPrompt="1"/>
          </p:nvPr>
        </p:nvSpPr>
        <p:spPr>
          <a:xfrm>
            <a:off x="1154955" y="1447800"/>
            <a:ext cx="8825658" cy="3329581"/>
          </a:xfrm>
        </p:spPr>
        <p:txBody>
          <a:bodyPr rtlCol="0" anchor="b"/>
          <a:lstStyle>
            <a:lvl1pPr>
              <a:defRPr sz="7200"/>
            </a:lvl1pPr>
          </a:lstStyle>
          <a:p>
            <a:pPr rtl="0"/>
            <a:r>
              <a:rPr lang="el-GR" noProof="0"/>
              <a:t>Κάντε κλικ για να επεξεργαστείτε το Στυλ κύριου τίτλου</a:t>
            </a:r>
          </a:p>
        </p:txBody>
      </p:sp>
      <p:sp>
        <p:nvSpPr>
          <p:cNvPr id="3" name="Υπότιτλος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rtlCol="0"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l-GR" noProof="0"/>
              <a:t>Κάντε κλικ για να επεξεργαστείτε τον υπότιτλο του υποδείγματος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3286F9F-5DEA-42E2-8459-AF4584E507B8}" type="datetime1">
              <a:rPr lang="el-GR" noProof="0" smtClean="0"/>
              <a:t>23/7/2025</a:t>
            </a:fld>
            <a:endParaRPr lang="el-GR" noProof="0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l-GR" noProof="0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el-GR" noProof="0" smtClean="0"/>
              <a:t>‹#›</a:t>
            </a:fld>
            <a:endParaRPr lang="el-GR" noProof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el-GR" noProof="0"/>
              <a:t>Κάντε κλικ για να επεξεργαστείτε το Στυλ κύριου τίτλου</a:t>
            </a:r>
          </a:p>
        </p:txBody>
      </p:sp>
      <p:sp>
        <p:nvSpPr>
          <p:cNvPr id="3" name="Θέση περιεχομένου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el-GR" noProof="0"/>
              <a:t>Στυλ υποδείγματος κειμένου</a:t>
            </a:r>
          </a:p>
          <a:p>
            <a:pPr lvl="1" rtl="0"/>
            <a:r>
              <a:rPr lang="el-GR" noProof="0"/>
              <a:t>Δεύτερου επιπέδου</a:t>
            </a:r>
          </a:p>
          <a:p>
            <a:pPr lvl="2" rtl="0"/>
            <a:r>
              <a:rPr lang="el-GR" noProof="0"/>
              <a:t>Τρίτου επιπέδου</a:t>
            </a:r>
          </a:p>
          <a:p>
            <a:pPr lvl="3" rtl="0"/>
            <a:r>
              <a:rPr lang="el-GR" noProof="0"/>
              <a:t>Τέταρτου επιπέδου</a:t>
            </a:r>
          </a:p>
          <a:p>
            <a:pPr lvl="4" rtl="0"/>
            <a:r>
              <a:rPr lang="el-GR" noProof="0"/>
              <a:t>Πέμπτου επιπέδου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246C2EB-AB2E-495A-859C-4D87A2F84C82}" type="datetime1">
              <a:rPr lang="el-GR" noProof="0" smtClean="0"/>
              <a:t>23/7/2025</a:t>
            </a:fld>
            <a:endParaRPr lang="el-GR" noProof="0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l-GR" noProof="0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el-GR" noProof="0" smtClean="0"/>
              <a:t>‹#›</a:t>
            </a:fld>
            <a:endParaRPr lang="el-GR" noProof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 hasCustomPrompt="1"/>
          </p:nvPr>
        </p:nvSpPr>
        <p:spPr>
          <a:xfrm>
            <a:off x="1154956" y="2861733"/>
            <a:ext cx="8825657" cy="1915647"/>
          </a:xfrm>
        </p:spPr>
        <p:txBody>
          <a:bodyPr rtlCol="0" anchor="b"/>
          <a:lstStyle>
            <a:lvl1pPr algn="l">
              <a:defRPr sz="4000" b="0" cap="none"/>
            </a:lvl1pPr>
          </a:lstStyle>
          <a:p>
            <a:pPr rtl="0"/>
            <a:r>
              <a:rPr lang="el-GR" noProof="0"/>
              <a:t>Κάντε κλικ για να επεξεργαστείτε το Στυλ κύριου τίτλου</a:t>
            </a:r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 hasCustomPrompt="1"/>
          </p:nvPr>
        </p:nvSpPr>
        <p:spPr>
          <a:xfrm>
            <a:off x="1154955" y="4777381"/>
            <a:ext cx="8825658" cy="860400"/>
          </a:xfrm>
        </p:spPr>
        <p:txBody>
          <a:bodyPr rtlCol="0"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l-GR" noProof="0"/>
              <a:t>Στυλ υποδείγματος κειμένου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D504327-B074-4CD4-A18C-5EA0C4186228}" type="datetime1">
              <a:rPr lang="el-GR" noProof="0" smtClean="0"/>
              <a:t>23/7/2025</a:t>
            </a:fld>
            <a:endParaRPr lang="el-GR" noProof="0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l-GR" noProof="0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el-GR" noProof="0" smtClean="0"/>
              <a:t>‹#›</a:t>
            </a:fld>
            <a:endParaRPr lang="el-GR" noProof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el-GR" noProof="0"/>
              <a:t>Κάντε κλικ για να επεξεργαστείτε το Στυλ κύριου τίτλου</a:t>
            </a:r>
          </a:p>
        </p:txBody>
      </p:sp>
      <p:sp>
        <p:nvSpPr>
          <p:cNvPr id="3" name="Θέση περιεχομένου 2"/>
          <p:cNvSpPr>
            <a:spLocks noGrp="1"/>
          </p:cNvSpPr>
          <p:nvPr>
            <p:ph sz="half" idx="1" hasCustomPrompt="1"/>
          </p:nvPr>
        </p:nvSpPr>
        <p:spPr>
          <a:xfrm>
            <a:off x="1103312" y="2060575"/>
            <a:ext cx="4396339" cy="4195763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el-GR" noProof="0"/>
              <a:t>Στυλ υποδείγματος κειμένου</a:t>
            </a:r>
          </a:p>
          <a:p>
            <a:pPr lvl="1" rtl="0"/>
            <a:r>
              <a:rPr lang="el-GR" noProof="0"/>
              <a:t>Δεύτερου επιπέδου</a:t>
            </a:r>
          </a:p>
          <a:p>
            <a:pPr lvl="2" rtl="0"/>
            <a:r>
              <a:rPr lang="el-GR" noProof="0"/>
              <a:t>Τρίτου επιπέδου</a:t>
            </a:r>
          </a:p>
          <a:p>
            <a:pPr lvl="3" rtl="0"/>
            <a:r>
              <a:rPr lang="el-GR" noProof="0"/>
              <a:t>Τέταρτου επιπέδου</a:t>
            </a:r>
          </a:p>
          <a:p>
            <a:pPr lvl="4" rtl="0"/>
            <a:r>
              <a:rPr lang="el-GR" noProof="0"/>
              <a:t>Πέμπτου επιπέδου</a:t>
            </a:r>
          </a:p>
        </p:txBody>
      </p:sp>
      <p:sp>
        <p:nvSpPr>
          <p:cNvPr id="4" name="Θέση περιεχομένου 3"/>
          <p:cNvSpPr>
            <a:spLocks noGrp="1"/>
          </p:cNvSpPr>
          <p:nvPr>
            <p:ph sz="half" idx="2" hasCustomPrompt="1"/>
          </p:nvPr>
        </p:nvSpPr>
        <p:spPr>
          <a:xfrm>
            <a:off x="5654493" y="2056092"/>
            <a:ext cx="4396341" cy="4200245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el-GR" noProof="0"/>
              <a:t>Στυλ υποδείγματος κειμένου</a:t>
            </a:r>
          </a:p>
          <a:p>
            <a:pPr lvl="1" rtl="0"/>
            <a:r>
              <a:rPr lang="el-GR" noProof="0"/>
              <a:t>Δεύτερου επιπέδου</a:t>
            </a:r>
          </a:p>
          <a:p>
            <a:pPr lvl="2" rtl="0"/>
            <a:r>
              <a:rPr lang="el-GR" noProof="0"/>
              <a:t>Τρίτου επιπέδου</a:t>
            </a:r>
          </a:p>
          <a:p>
            <a:pPr lvl="3" rtl="0"/>
            <a:r>
              <a:rPr lang="el-GR" noProof="0"/>
              <a:t>Τέταρτου επιπέδου</a:t>
            </a:r>
          </a:p>
          <a:p>
            <a:pPr lvl="4" rtl="0"/>
            <a:r>
              <a:rPr lang="el-GR" noProof="0"/>
              <a:t>Πέμπτου επιπέδου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50FBAEB-3F95-4A73-B355-7AC1B223B94B}" type="datetime1">
              <a:rPr lang="el-GR" noProof="0" smtClean="0"/>
              <a:t>23/7/2025</a:t>
            </a:fld>
            <a:endParaRPr lang="el-GR" noProof="0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l-GR" noProof="0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el-GR" noProof="0" smtClean="0"/>
              <a:t>‹#›</a:t>
            </a:fld>
            <a:endParaRPr lang="el-GR" noProof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el-GR" noProof="0"/>
              <a:t>Κάντε κλικ για να επεξεργαστείτε το Στυλ κύριου τίτλου</a:t>
            </a:r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 hasCustomPrompt="1"/>
          </p:nvPr>
        </p:nvSpPr>
        <p:spPr>
          <a:xfrm>
            <a:off x="1103313" y="1905000"/>
            <a:ext cx="4396338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l-GR" noProof="0"/>
              <a:t>Στυλ υποδείγματος κειμένου</a:t>
            </a:r>
          </a:p>
        </p:txBody>
      </p:sp>
      <p:sp>
        <p:nvSpPr>
          <p:cNvPr id="4" name="Θέση περιεχομένου 3"/>
          <p:cNvSpPr>
            <a:spLocks noGrp="1"/>
          </p:cNvSpPr>
          <p:nvPr>
            <p:ph sz="half" idx="2" hasCustomPrompt="1"/>
          </p:nvPr>
        </p:nvSpPr>
        <p:spPr>
          <a:xfrm>
            <a:off x="1103312" y="2514600"/>
            <a:ext cx="4396339" cy="3741738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el-GR" noProof="0"/>
              <a:t>Στυλ υποδείγματος κειμένου</a:t>
            </a:r>
          </a:p>
          <a:p>
            <a:pPr lvl="1" rtl="0"/>
            <a:r>
              <a:rPr lang="el-GR" noProof="0"/>
              <a:t>Δεύτερου επιπέδου</a:t>
            </a:r>
          </a:p>
          <a:p>
            <a:pPr lvl="2" rtl="0"/>
            <a:r>
              <a:rPr lang="el-GR" noProof="0"/>
              <a:t>Τρίτου επιπέδου</a:t>
            </a:r>
          </a:p>
          <a:p>
            <a:pPr lvl="3" rtl="0"/>
            <a:r>
              <a:rPr lang="el-GR" noProof="0"/>
              <a:t>Τέταρτου επιπέδου</a:t>
            </a:r>
          </a:p>
          <a:p>
            <a:pPr lvl="4" rtl="0"/>
            <a:r>
              <a:rPr lang="el-GR" noProof="0"/>
              <a:t>Πέμπτου επιπέδου</a:t>
            </a:r>
          </a:p>
        </p:txBody>
      </p:sp>
      <p:sp>
        <p:nvSpPr>
          <p:cNvPr id="5" name="Θέση κειμένου 4"/>
          <p:cNvSpPr>
            <a:spLocks noGrp="1"/>
          </p:cNvSpPr>
          <p:nvPr>
            <p:ph type="body" sz="quarter" idx="3" hasCustomPrompt="1"/>
          </p:nvPr>
        </p:nvSpPr>
        <p:spPr>
          <a:xfrm>
            <a:off x="5654495" y="1905000"/>
            <a:ext cx="4396339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l-GR" noProof="0"/>
              <a:t>Στυλ υποδείγματος κειμένου</a:t>
            </a:r>
          </a:p>
        </p:txBody>
      </p:sp>
      <p:sp>
        <p:nvSpPr>
          <p:cNvPr id="6" name="Θέση περιεχομένου 5"/>
          <p:cNvSpPr>
            <a:spLocks noGrp="1"/>
          </p:cNvSpPr>
          <p:nvPr>
            <p:ph sz="quarter" idx="4" hasCustomPrompt="1"/>
          </p:nvPr>
        </p:nvSpPr>
        <p:spPr>
          <a:xfrm>
            <a:off x="5654495" y="2514600"/>
            <a:ext cx="4396339" cy="3741738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el-GR" noProof="0"/>
              <a:t>Στυλ υποδείγματος κειμένου</a:t>
            </a:r>
          </a:p>
          <a:p>
            <a:pPr lvl="1" rtl="0"/>
            <a:r>
              <a:rPr lang="el-GR" noProof="0"/>
              <a:t>Δεύτερου επιπέδου</a:t>
            </a:r>
          </a:p>
          <a:p>
            <a:pPr lvl="2" rtl="0"/>
            <a:r>
              <a:rPr lang="el-GR" noProof="0"/>
              <a:t>Τρίτου επιπέδου</a:t>
            </a:r>
          </a:p>
          <a:p>
            <a:pPr lvl="3" rtl="0"/>
            <a:r>
              <a:rPr lang="el-GR" noProof="0"/>
              <a:t>Τέταρτου επιπέδου</a:t>
            </a:r>
          </a:p>
          <a:p>
            <a:pPr lvl="4" rtl="0"/>
            <a:r>
              <a:rPr lang="el-GR" noProof="0"/>
              <a:t>Πέμπτου επιπέδου</a:t>
            </a:r>
          </a:p>
        </p:txBody>
      </p:sp>
      <p:sp>
        <p:nvSpPr>
          <p:cNvPr id="7" name="Θέση ημερομηνίας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36B92AA-7102-409B-97FE-EEE5BE54E13D}" type="datetime1">
              <a:rPr lang="el-GR" noProof="0" smtClean="0"/>
              <a:t>23/7/2025</a:t>
            </a:fld>
            <a:endParaRPr lang="el-GR" noProof="0"/>
          </a:p>
        </p:txBody>
      </p:sp>
      <p:sp>
        <p:nvSpPr>
          <p:cNvPr id="8" name="Θέση υποσέλιδου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l-GR" noProof="0"/>
          </a:p>
        </p:txBody>
      </p:sp>
      <p:sp>
        <p:nvSpPr>
          <p:cNvPr id="9" name="Θέση αριθμού διαφάνειας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el-GR" noProof="0" smtClean="0"/>
              <a:t>‹#›</a:t>
            </a:fld>
            <a:endParaRPr lang="el-GR" noProof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el-GR" noProof="0"/>
              <a:t>Κάντε κλικ για να επεξεργαστείτε το Στυλ κύριου τίτλου</a:t>
            </a:r>
          </a:p>
        </p:txBody>
      </p:sp>
      <p:sp>
        <p:nvSpPr>
          <p:cNvPr id="7" name="Θέση ημερομηνίας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FB66D5C-8B9E-45F5-89E0-9EA99CB55314}" type="datetime1">
              <a:rPr lang="el-GR" noProof="0" smtClean="0"/>
              <a:t>23/7/2025</a:t>
            </a:fld>
            <a:endParaRPr lang="el-GR" noProof="0"/>
          </a:p>
        </p:txBody>
      </p:sp>
      <p:sp>
        <p:nvSpPr>
          <p:cNvPr id="5" name="Θέση υποσέλιδου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l-GR" noProof="0"/>
          </a:p>
        </p:txBody>
      </p:sp>
      <p:sp>
        <p:nvSpPr>
          <p:cNvPr id="6" name="Θέση αριθμού διαφάνειας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el-GR" noProof="0" smtClean="0"/>
              <a:t>‹#›</a:t>
            </a:fld>
            <a:endParaRPr lang="el-GR" noProof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Θέση ημερομηνίας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BED68D5-AB94-43DB-AF56-54F764DD0B7B}" type="datetime1">
              <a:rPr lang="el-GR" noProof="0" smtClean="0"/>
              <a:t>23/7/2025</a:t>
            </a:fld>
            <a:endParaRPr lang="el-GR" noProof="0"/>
          </a:p>
        </p:txBody>
      </p:sp>
      <p:sp>
        <p:nvSpPr>
          <p:cNvPr id="5" name="Θέση υποσέλιδου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l-GR" noProof="0"/>
          </a:p>
        </p:txBody>
      </p:sp>
      <p:sp>
        <p:nvSpPr>
          <p:cNvPr id="6" name="Θέση αριθμού διαφάνειας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el-GR" noProof="0" smtClean="0"/>
              <a:t>‹#›</a:t>
            </a:fld>
            <a:endParaRPr lang="el-GR" noProof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 hasCustomPrompt="1"/>
          </p:nvPr>
        </p:nvSpPr>
        <p:spPr>
          <a:xfrm>
            <a:off x="1154954" y="1447800"/>
            <a:ext cx="3401064" cy="1447800"/>
          </a:xfrm>
        </p:spPr>
        <p:txBody>
          <a:bodyPr rtlCol="0" anchor="b"/>
          <a:lstStyle>
            <a:lvl1pPr algn="l">
              <a:defRPr sz="2400" b="0"/>
            </a:lvl1pPr>
          </a:lstStyle>
          <a:p>
            <a:pPr rtl="0"/>
            <a:r>
              <a:rPr lang="el-GR" noProof="0"/>
              <a:t>Κάντε κλικ για να επεξεργαστείτε το Στυλ κύριου τίτλου</a:t>
            </a:r>
          </a:p>
        </p:txBody>
      </p:sp>
      <p:sp>
        <p:nvSpPr>
          <p:cNvPr id="3" name="Θέση περιεχομένου 2"/>
          <p:cNvSpPr>
            <a:spLocks noGrp="1"/>
          </p:cNvSpPr>
          <p:nvPr>
            <p:ph idx="1" hasCustomPrompt="1"/>
          </p:nvPr>
        </p:nvSpPr>
        <p:spPr>
          <a:xfrm>
            <a:off x="4784616" y="1447800"/>
            <a:ext cx="5195997" cy="4572000"/>
          </a:xfrm>
        </p:spPr>
        <p:txBody>
          <a:bodyPr rtlCol="0"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l-GR" noProof="0"/>
              <a:t>Στυλ υποδείγματος κειμένου</a:t>
            </a:r>
          </a:p>
          <a:p>
            <a:pPr lvl="1" rtl="0"/>
            <a:r>
              <a:rPr lang="el-GR" noProof="0"/>
              <a:t>Δεύτερου επιπέδου</a:t>
            </a:r>
          </a:p>
          <a:p>
            <a:pPr lvl="2" rtl="0"/>
            <a:r>
              <a:rPr lang="el-GR" noProof="0"/>
              <a:t>Τρίτου επιπέδου</a:t>
            </a:r>
          </a:p>
          <a:p>
            <a:pPr lvl="3" rtl="0"/>
            <a:r>
              <a:rPr lang="el-GR" noProof="0"/>
              <a:t>Τέταρτου επιπέδου</a:t>
            </a:r>
          </a:p>
          <a:p>
            <a:pPr lvl="4" rtl="0"/>
            <a:r>
              <a:rPr lang="el-GR" noProof="0"/>
              <a:t>Πέμπτου επιπέδου</a:t>
            </a:r>
          </a:p>
        </p:txBody>
      </p:sp>
      <p:sp>
        <p:nvSpPr>
          <p:cNvPr id="4" name="Θέση κειμένου 3"/>
          <p:cNvSpPr>
            <a:spLocks noGrp="1"/>
          </p:cNvSpPr>
          <p:nvPr>
            <p:ph type="body" sz="half" idx="2" hasCustomPrompt="1"/>
          </p:nvPr>
        </p:nvSpPr>
        <p:spPr>
          <a:xfrm>
            <a:off x="1154954" y="3129280"/>
            <a:ext cx="3401063" cy="2895599"/>
          </a:xfrm>
        </p:spPr>
        <p:txBody>
          <a:bodyPr rtlCol="0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l-GR" noProof="0"/>
              <a:t>Στυλ υποδείγματος κειμένου</a:t>
            </a:r>
          </a:p>
        </p:txBody>
      </p:sp>
      <p:sp>
        <p:nvSpPr>
          <p:cNvPr id="7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73BAC4A-979A-4274-81C7-6B49553E5233}" type="datetime1">
              <a:rPr lang="el-GR" noProof="0" smtClean="0"/>
              <a:t>23/7/2025</a:t>
            </a:fld>
            <a:endParaRPr lang="el-GR" noProof="0"/>
          </a:p>
        </p:txBody>
      </p:sp>
      <p:sp>
        <p:nvSpPr>
          <p:cNvPr id="5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l-GR" noProof="0"/>
          </a:p>
        </p:txBody>
      </p:sp>
      <p:sp>
        <p:nvSpPr>
          <p:cNvPr id="6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el-GR" noProof="0" smtClean="0"/>
              <a:t>‹#›</a:t>
            </a:fld>
            <a:endParaRPr lang="el-GR" noProof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 hasCustomPrompt="1"/>
          </p:nvPr>
        </p:nvSpPr>
        <p:spPr>
          <a:xfrm>
            <a:off x="1153907" y="1854192"/>
            <a:ext cx="5092906" cy="1574808"/>
          </a:xfrm>
        </p:spPr>
        <p:txBody>
          <a:bodyPr rtlCol="0" anchor="b">
            <a:normAutofit/>
          </a:bodyPr>
          <a:lstStyle>
            <a:lvl1pPr algn="l">
              <a:defRPr sz="3600" b="0"/>
            </a:lvl1pPr>
          </a:lstStyle>
          <a:p>
            <a:pPr rtl="0"/>
            <a:r>
              <a:rPr lang="el-GR" noProof="0"/>
              <a:t>Κάντε κλικ για να επεξεργαστείτε το Στυλ κύριου τίτλου</a:t>
            </a:r>
          </a:p>
        </p:txBody>
      </p:sp>
      <p:sp>
        <p:nvSpPr>
          <p:cNvPr id="3" name="Θέση εικόνας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l-GR" noProof="0"/>
              <a:t>Κάντε κλικ στο εικονίδιο για να προσθέσετε μια εικόνα</a:t>
            </a:r>
          </a:p>
        </p:txBody>
      </p:sp>
      <p:sp>
        <p:nvSpPr>
          <p:cNvPr id="4" name="Θέση κειμένου 3"/>
          <p:cNvSpPr>
            <a:spLocks noGrp="1"/>
          </p:cNvSpPr>
          <p:nvPr>
            <p:ph type="body" sz="half" idx="2" hasCustomPrompt="1"/>
          </p:nvPr>
        </p:nvSpPr>
        <p:spPr>
          <a:xfrm>
            <a:off x="1154954" y="3657600"/>
            <a:ext cx="5084979" cy="1371600"/>
          </a:xfrm>
        </p:spPr>
        <p:txBody>
          <a:bodyPr rtlCol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l-GR" noProof="0"/>
              <a:t>Στυλ υποδείγματος κειμένου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095CF73-295D-4CB8-A0D3-661D1C3C1E99}" type="datetime1">
              <a:rPr lang="el-GR" noProof="0" smtClean="0"/>
              <a:t>23/7/2025</a:t>
            </a:fld>
            <a:endParaRPr lang="el-GR" noProof="0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l-GR" noProof="0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el-GR" noProof="0" smtClean="0"/>
              <a:t>‹#›</a:t>
            </a:fld>
            <a:endParaRPr lang="el-GR" noProof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Πανοραμική 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 hasCustomPrompt="1"/>
          </p:nvPr>
        </p:nvSpPr>
        <p:spPr>
          <a:xfrm>
            <a:off x="1154956" y="4800587"/>
            <a:ext cx="8825657" cy="566738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el-GR" noProof="0"/>
              <a:t>Κάντε κλικ για να επεξεργαστείτε το Στυλ κύριου τίτλου</a:t>
            </a:r>
          </a:p>
        </p:txBody>
      </p:sp>
      <p:sp>
        <p:nvSpPr>
          <p:cNvPr id="3" name="Θέση εικόνας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l-GR" noProof="0"/>
              <a:t>Κάντε κλικ στο εικονίδιο για να προσθέσετε μια εικόνα</a:t>
            </a:r>
          </a:p>
        </p:txBody>
      </p:sp>
      <p:sp>
        <p:nvSpPr>
          <p:cNvPr id="4" name="Θέση κειμένου 3"/>
          <p:cNvSpPr>
            <a:spLocks noGrp="1"/>
          </p:cNvSpPr>
          <p:nvPr>
            <p:ph type="body" sz="half" idx="2" hasCustomPrompt="1"/>
          </p:nvPr>
        </p:nvSpPr>
        <p:spPr>
          <a:xfrm>
            <a:off x="1154956" y="5367325"/>
            <a:ext cx="8825656" cy="4937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l-GR" noProof="0"/>
              <a:t>Στυλ υποδείγματος κειμένου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EF8E422-379D-4C66-A26B-E19B6BE87450}" type="datetime1">
              <a:rPr lang="el-GR" noProof="0" smtClean="0"/>
              <a:t>23/7/2025</a:t>
            </a:fld>
            <a:endParaRPr lang="el-GR" noProof="0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l-GR" noProof="0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el-GR" noProof="0" smtClean="0"/>
              <a:t>‹#›</a:t>
            </a:fld>
            <a:endParaRPr lang="el-GR" noProof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Τίτλος και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 hasCustomPrompt="1"/>
          </p:nvPr>
        </p:nvSpPr>
        <p:spPr>
          <a:xfrm>
            <a:off x="1154954" y="1447800"/>
            <a:ext cx="8825659" cy="1981200"/>
          </a:xfrm>
        </p:spPr>
        <p:txBody>
          <a:bodyPr rtlCol="0"/>
          <a:lstStyle>
            <a:lvl1pPr>
              <a:defRPr sz="4800"/>
            </a:lvl1pPr>
          </a:lstStyle>
          <a:p>
            <a:pPr rtl="0"/>
            <a:r>
              <a:rPr lang="el-GR" noProof="0"/>
              <a:t>Κάντε κλικ για να επεξεργαστείτε το Στυλ κύριου τίτλου</a:t>
            </a:r>
          </a:p>
        </p:txBody>
      </p:sp>
      <p:sp>
        <p:nvSpPr>
          <p:cNvPr id="8" name="Θέση κειμένου 3"/>
          <p:cNvSpPr>
            <a:spLocks noGrp="1"/>
          </p:cNvSpPr>
          <p:nvPr>
            <p:ph type="body" sz="half" idx="2" hasCustomPrompt="1"/>
          </p:nvPr>
        </p:nvSpPr>
        <p:spPr>
          <a:xfrm>
            <a:off x="1154954" y="3657600"/>
            <a:ext cx="8825659" cy="2362200"/>
          </a:xfrm>
        </p:spPr>
        <p:txBody>
          <a:bodyPr rtlCol="0"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l-GR" noProof="0"/>
              <a:t>Στυλ υποδείγματος κειμένου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E9CAF7B-7D15-4E83-A144-ECC2A399DE51}" type="datetime1">
              <a:rPr lang="el-GR" noProof="0" smtClean="0"/>
              <a:t>23/7/2025</a:t>
            </a:fld>
            <a:endParaRPr lang="el-GR" noProof="0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l-GR" noProof="0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el-GR" noProof="0" smtClean="0"/>
              <a:t>‹#›</a:t>
            </a:fld>
            <a:endParaRPr lang="el-GR" noProof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Απόσπασμ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 hasCustomPrompt="1"/>
          </p:nvPr>
        </p:nvSpPr>
        <p:spPr>
          <a:xfrm>
            <a:off x="1574801" y="1447800"/>
            <a:ext cx="7999315" cy="2323374"/>
          </a:xfrm>
        </p:spPr>
        <p:txBody>
          <a:bodyPr rtlCol="0"/>
          <a:lstStyle>
            <a:lvl1pPr>
              <a:defRPr sz="4800"/>
            </a:lvl1pPr>
          </a:lstStyle>
          <a:p>
            <a:pPr rtl="0"/>
            <a:r>
              <a:rPr lang="el-GR" noProof="0"/>
              <a:t>Κάντε κλικ για να επεξεργαστείτε το Στυλ κύριου τίτλου</a:t>
            </a:r>
          </a:p>
        </p:txBody>
      </p:sp>
      <p:sp>
        <p:nvSpPr>
          <p:cNvPr id="14" name="Θέση κειμένου 3"/>
          <p:cNvSpPr>
            <a:spLocks noGrp="1"/>
          </p:cNvSpPr>
          <p:nvPr>
            <p:ph type="body" sz="half" idx="13" hasCustomPrompt="1"/>
          </p:nvPr>
        </p:nvSpPr>
        <p:spPr>
          <a:xfrm>
            <a:off x="1930400" y="3771174"/>
            <a:ext cx="7279649" cy="342174"/>
          </a:xfrm>
        </p:spPr>
        <p:txBody>
          <a:bodyPr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l-GR" noProof="0"/>
              <a:t>Στυλ υποδείγματος κειμένου</a:t>
            </a:r>
          </a:p>
        </p:txBody>
      </p:sp>
      <p:sp>
        <p:nvSpPr>
          <p:cNvPr id="10" name="Θέση κειμένου 3"/>
          <p:cNvSpPr>
            <a:spLocks noGrp="1"/>
          </p:cNvSpPr>
          <p:nvPr>
            <p:ph type="body" sz="half" idx="2" hasCustomPrompt="1"/>
          </p:nvPr>
        </p:nvSpPr>
        <p:spPr>
          <a:xfrm>
            <a:off x="1154954" y="4350657"/>
            <a:ext cx="8825659" cy="1676400"/>
          </a:xfrm>
        </p:spPr>
        <p:txBody>
          <a:bodyPr rtlCol="0"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l-GR" noProof="0"/>
              <a:t>Στυλ υποδείγματος κειμένου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FC6CE0F-1A47-4071-B44C-65812A1BEA4D}" type="datetime1">
              <a:rPr lang="el-GR" noProof="0" smtClean="0"/>
              <a:t>23/7/2025</a:t>
            </a:fld>
            <a:endParaRPr lang="el-GR" noProof="0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l-GR" noProof="0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el-GR" noProof="0" smtClean="0"/>
              <a:t>‹#›</a:t>
            </a:fld>
            <a:endParaRPr lang="el-GR" noProof="0"/>
          </a:p>
        </p:txBody>
      </p:sp>
      <p:sp>
        <p:nvSpPr>
          <p:cNvPr id="9" name="Πλαίσιο κειμένου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 rtl="0"/>
            <a:r>
              <a:rPr lang="el-GR" noProof="0"/>
              <a:t>“</a:t>
            </a:r>
          </a:p>
        </p:txBody>
      </p:sp>
      <p:sp>
        <p:nvSpPr>
          <p:cNvPr id="13" name="Πλαίσιο κειμένου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 rtl="0"/>
            <a:r>
              <a:rPr lang="el-GR" noProof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Κάρτα ονόματ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 hasCustomPrompt="1"/>
          </p:nvPr>
        </p:nvSpPr>
        <p:spPr>
          <a:xfrm>
            <a:off x="1154954" y="3124201"/>
            <a:ext cx="8825660" cy="1653180"/>
          </a:xfrm>
        </p:spPr>
        <p:txBody>
          <a:bodyPr rtlCol="0" anchor="b"/>
          <a:lstStyle>
            <a:lvl1pPr algn="l">
              <a:defRPr sz="4000" b="0" cap="none"/>
            </a:lvl1pPr>
          </a:lstStyle>
          <a:p>
            <a:pPr rtl="0"/>
            <a:r>
              <a:rPr lang="el-GR" noProof="0"/>
              <a:t>Κάντε κλικ για να επεξεργαστείτε το Στυλ κύριου τίτλου</a:t>
            </a:r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 hasCustomPrompt="1"/>
          </p:nvPr>
        </p:nvSpPr>
        <p:spPr>
          <a:xfrm>
            <a:off x="1154954" y="4777381"/>
            <a:ext cx="8825659" cy="860400"/>
          </a:xfrm>
        </p:spPr>
        <p:txBody>
          <a:bodyPr rtlCol="0"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l-GR" noProof="0"/>
              <a:t>Στυλ υποδείγματος κειμένου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B0622AD-A0BE-4CC6-B0DE-321A460D08DA}" type="datetime1">
              <a:rPr lang="el-GR" noProof="0" smtClean="0"/>
              <a:t>23/7/2025</a:t>
            </a:fld>
            <a:endParaRPr lang="el-GR" noProof="0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l-GR" noProof="0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el-GR" noProof="0" smtClean="0"/>
              <a:t>‹#›</a:t>
            </a:fld>
            <a:endParaRPr lang="el-GR" noProof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στήλε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 sz="4200"/>
            </a:lvl1pPr>
          </a:lstStyle>
          <a:p>
            <a:pPr rtl="0"/>
            <a:r>
              <a:rPr lang="el-GR" noProof="0"/>
              <a:t>Κάντε κλικ για να επεξεργαστείτε το Στυλ κύριου τίτλου</a:t>
            </a:r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 hasCustomPrompt="1"/>
          </p:nvPr>
        </p:nvSpPr>
        <p:spPr>
          <a:xfrm>
            <a:off x="632947" y="1981200"/>
            <a:ext cx="2946866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l-GR" noProof="0"/>
              <a:t>Στυλ υποδείγματος κειμένου</a:t>
            </a:r>
          </a:p>
        </p:txBody>
      </p:sp>
      <p:sp>
        <p:nvSpPr>
          <p:cNvPr id="16" name="Θέση κειμένου 3"/>
          <p:cNvSpPr>
            <a:spLocks noGrp="1"/>
          </p:cNvSpPr>
          <p:nvPr>
            <p:ph type="body" sz="half" idx="15" hasCustomPrompt="1"/>
          </p:nvPr>
        </p:nvSpPr>
        <p:spPr>
          <a:xfrm>
            <a:off x="652463" y="2667000"/>
            <a:ext cx="2927350" cy="3589338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l-GR" noProof="0"/>
              <a:t>Στυλ υποδείγματος κειμένου</a:t>
            </a:r>
          </a:p>
        </p:txBody>
      </p:sp>
      <p:sp>
        <p:nvSpPr>
          <p:cNvPr id="5" name="Θέση κειμένου 4"/>
          <p:cNvSpPr>
            <a:spLocks noGrp="1"/>
          </p:cNvSpPr>
          <p:nvPr>
            <p:ph type="body" sz="quarter" idx="3" hasCustomPrompt="1"/>
          </p:nvPr>
        </p:nvSpPr>
        <p:spPr>
          <a:xfrm>
            <a:off x="3883659" y="1981200"/>
            <a:ext cx="2936241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l-GR" noProof="0"/>
              <a:t>Στυλ υποδείγματος κειμένου</a:t>
            </a:r>
          </a:p>
        </p:txBody>
      </p:sp>
      <p:sp>
        <p:nvSpPr>
          <p:cNvPr id="19" name="Θέση κειμένου 3"/>
          <p:cNvSpPr>
            <a:spLocks noGrp="1"/>
          </p:cNvSpPr>
          <p:nvPr>
            <p:ph type="body" sz="half" idx="16" hasCustomPrompt="1"/>
          </p:nvPr>
        </p:nvSpPr>
        <p:spPr>
          <a:xfrm>
            <a:off x="3873106" y="2667000"/>
            <a:ext cx="2946794" cy="3589338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l-GR" noProof="0"/>
              <a:t>Στυλ υποδείγματος κειμένου</a:t>
            </a:r>
          </a:p>
        </p:txBody>
      </p:sp>
      <p:sp>
        <p:nvSpPr>
          <p:cNvPr id="14" name="Θέση κειμένου 4"/>
          <p:cNvSpPr>
            <a:spLocks noGrp="1"/>
          </p:cNvSpPr>
          <p:nvPr>
            <p:ph type="body" sz="quarter" idx="13" hasCustomPrompt="1"/>
          </p:nvPr>
        </p:nvSpPr>
        <p:spPr>
          <a:xfrm>
            <a:off x="7124700" y="1981200"/>
            <a:ext cx="2932113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l-GR" noProof="0"/>
              <a:t>Στυλ υποδείγματος κειμένου</a:t>
            </a:r>
          </a:p>
        </p:txBody>
      </p:sp>
      <p:sp>
        <p:nvSpPr>
          <p:cNvPr id="20" name="Θέση κειμένου 3"/>
          <p:cNvSpPr>
            <a:spLocks noGrp="1"/>
          </p:cNvSpPr>
          <p:nvPr>
            <p:ph type="body" sz="half" idx="17" hasCustomPrompt="1"/>
          </p:nvPr>
        </p:nvSpPr>
        <p:spPr>
          <a:xfrm>
            <a:off x="7124700" y="2667000"/>
            <a:ext cx="2932113" cy="3589338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l-GR" noProof="0"/>
              <a:t>Στυλ υποδείγματος κειμένου</a:t>
            </a:r>
          </a:p>
        </p:txBody>
      </p:sp>
      <p:cxnSp>
        <p:nvCxnSpPr>
          <p:cNvPr id="17" name="Ευθεία γραμμή σύνδεσης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Ευθεία γραμμή σύνδεσης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E347C30-867F-407D-A7E4-7FCF55A7B6B5}" type="datetime1">
              <a:rPr lang="el-GR" noProof="0" smtClean="0"/>
              <a:t>23/7/2025</a:t>
            </a:fld>
            <a:endParaRPr lang="el-GR" noProof="0"/>
          </a:p>
        </p:txBody>
      </p:sp>
      <p:sp>
        <p:nvSpPr>
          <p:cNvPr id="4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l-GR" noProof="0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el-GR" noProof="0" smtClean="0"/>
              <a:t>‹#›</a:t>
            </a:fld>
            <a:endParaRPr lang="el-GR" noProof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Στήλη 3 εικόνω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 sz="4200"/>
            </a:lvl1pPr>
          </a:lstStyle>
          <a:p>
            <a:pPr rtl="0"/>
            <a:r>
              <a:rPr lang="el-GR" noProof="0"/>
              <a:t>Κάντε κλικ για να επεξεργαστείτε το Στυλ κύριου τίτλου</a:t>
            </a:r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 hasCustomPrompt="1"/>
          </p:nvPr>
        </p:nvSpPr>
        <p:spPr>
          <a:xfrm>
            <a:off x="652463" y="4250949"/>
            <a:ext cx="2940050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l-GR" noProof="0"/>
              <a:t>Στυλ υποδείγματος κειμένου</a:t>
            </a:r>
          </a:p>
        </p:txBody>
      </p:sp>
      <p:sp>
        <p:nvSpPr>
          <p:cNvPr id="29" name="Θέση εικόνας 2"/>
          <p:cNvSpPr>
            <a:spLocks noGrp="1" noChangeAspect="1"/>
          </p:cNvSpPr>
          <p:nvPr>
            <p:ph type="pic" idx="15" hasCustomPrompt="1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l-GR" noProof="0"/>
              <a:t>Κάντε κλικ στο εικονίδιο για να προσθέσετε μια εικόνα</a:t>
            </a:r>
          </a:p>
        </p:txBody>
      </p:sp>
      <p:sp>
        <p:nvSpPr>
          <p:cNvPr id="22" name="Θέση κειμένου 3"/>
          <p:cNvSpPr>
            <a:spLocks noGrp="1"/>
          </p:cNvSpPr>
          <p:nvPr>
            <p:ph type="body" sz="half" idx="18" hasCustomPrompt="1"/>
          </p:nvPr>
        </p:nvSpPr>
        <p:spPr>
          <a:xfrm>
            <a:off x="652463" y="4827211"/>
            <a:ext cx="2940050" cy="659189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l-GR" noProof="0"/>
              <a:t>Στυλ υποδείγματος κειμένου</a:t>
            </a:r>
          </a:p>
        </p:txBody>
      </p:sp>
      <p:sp>
        <p:nvSpPr>
          <p:cNvPr id="5" name="Θέση κειμένου 4"/>
          <p:cNvSpPr>
            <a:spLocks noGrp="1"/>
          </p:cNvSpPr>
          <p:nvPr>
            <p:ph type="body" sz="quarter" idx="3" hasCustomPrompt="1"/>
          </p:nvPr>
        </p:nvSpPr>
        <p:spPr>
          <a:xfrm>
            <a:off x="3889375" y="4250949"/>
            <a:ext cx="2930525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l-GR" noProof="0"/>
              <a:t>Στυλ υποδείγματος κειμένου</a:t>
            </a:r>
          </a:p>
        </p:txBody>
      </p:sp>
      <p:sp>
        <p:nvSpPr>
          <p:cNvPr id="30" name="Θέση εικόνας 2"/>
          <p:cNvSpPr>
            <a:spLocks noGrp="1" noChangeAspect="1"/>
          </p:cNvSpPr>
          <p:nvPr>
            <p:ph type="pic" idx="21" hasCustomPrompt="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l-GR" noProof="0"/>
              <a:t>Κάντε κλικ στο εικονίδιο για να προσθέσετε μια εικόνα</a:t>
            </a:r>
          </a:p>
        </p:txBody>
      </p:sp>
      <p:sp>
        <p:nvSpPr>
          <p:cNvPr id="23" name="Θέση κειμένου 3"/>
          <p:cNvSpPr>
            <a:spLocks noGrp="1"/>
          </p:cNvSpPr>
          <p:nvPr>
            <p:ph type="body" sz="half" idx="19" hasCustomPrompt="1"/>
          </p:nvPr>
        </p:nvSpPr>
        <p:spPr>
          <a:xfrm>
            <a:off x="3888022" y="4827210"/>
            <a:ext cx="2934406" cy="659189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l-GR" noProof="0"/>
              <a:t>Στυλ υποδείγματος κειμένου</a:t>
            </a:r>
          </a:p>
        </p:txBody>
      </p:sp>
      <p:sp>
        <p:nvSpPr>
          <p:cNvPr id="14" name="Θέση κειμένου 4"/>
          <p:cNvSpPr>
            <a:spLocks noGrp="1"/>
          </p:cNvSpPr>
          <p:nvPr>
            <p:ph type="body" sz="quarter" idx="13" hasCustomPrompt="1"/>
          </p:nvPr>
        </p:nvSpPr>
        <p:spPr>
          <a:xfrm>
            <a:off x="7124700" y="4250949"/>
            <a:ext cx="2932113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l-GR" noProof="0"/>
              <a:t>Στυλ υποδείγματος κειμένου</a:t>
            </a:r>
          </a:p>
        </p:txBody>
      </p:sp>
      <p:sp>
        <p:nvSpPr>
          <p:cNvPr id="31" name="Θέση εικόνας 2"/>
          <p:cNvSpPr>
            <a:spLocks noGrp="1" noChangeAspect="1"/>
          </p:cNvSpPr>
          <p:nvPr>
            <p:ph type="pic" idx="22" hasCustomPrompt="1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l-GR" noProof="0"/>
              <a:t>Κάντε κλικ στο εικονίδιο για να προσθέσετε μια εικόνα</a:t>
            </a:r>
          </a:p>
        </p:txBody>
      </p:sp>
      <p:sp>
        <p:nvSpPr>
          <p:cNvPr id="24" name="Θέση κειμένου 3"/>
          <p:cNvSpPr>
            <a:spLocks noGrp="1"/>
          </p:cNvSpPr>
          <p:nvPr>
            <p:ph type="body" sz="half" idx="20" hasCustomPrompt="1"/>
          </p:nvPr>
        </p:nvSpPr>
        <p:spPr>
          <a:xfrm>
            <a:off x="7124575" y="4827208"/>
            <a:ext cx="2935997" cy="659189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l-GR" noProof="0"/>
              <a:t>Στυλ υποδείγματος κειμένου</a:t>
            </a:r>
          </a:p>
        </p:txBody>
      </p:sp>
      <p:cxnSp>
        <p:nvCxnSpPr>
          <p:cNvPr id="17" name="Ευθεία γραμμή σύνδεσης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Ευθεία γραμμή σύνδεσης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33A8A8A-2056-48A0-926E-73E5B12B96CA}" type="datetime1">
              <a:rPr lang="el-GR" noProof="0" smtClean="0"/>
              <a:t>23/7/2025</a:t>
            </a:fld>
            <a:endParaRPr lang="el-GR" noProof="0"/>
          </a:p>
        </p:txBody>
      </p:sp>
      <p:sp>
        <p:nvSpPr>
          <p:cNvPr id="4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l-GR" noProof="0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el-GR" noProof="0" smtClean="0"/>
              <a:t>‹#›</a:t>
            </a:fld>
            <a:endParaRPr lang="el-GR" noProof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el-GR" noProof="0"/>
              <a:t>Κάντε κλικ για να επεξεργαστείτε το Στυλ κύριου τίτλου</a:t>
            </a:r>
          </a:p>
        </p:txBody>
      </p:sp>
      <p:sp>
        <p:nvSpPr>
          <p:cNvPr id="3" name="Σύμβολο κράτησης θέσης κατακόρυφου κειμένου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 anchorCtr="0"/>
          <a:lstStyle/>
          <a:p>
            <a:pPr lvl="0" rtl="0"/>
            <a:r>
              <a:rPr lang="el-GR" noProof="0"/>
              <a:t>Στυλ υποδείγματος κειμένου</a:t>
            </a:r>
          </a:p>
          <a:p>
            <a:pPr lvl="1" rtl="0"/>
            <a:r>
              <a:rPr lang="el-GR" noProof="0"/>
              <a:t>Δεύτερου επιπέδου</a:t>
            </a:r>
          </a:p>
          <a:p>
            <a:pPr lvl="2" rtl="0"/>
            <a:r>
              <a:rPr lang="el-GR" noProof="0"/>
              <a:t>Τρίτου επιπέδου</a:t>
            </a:r>
          </a:p>
          <a:p>
            <a:pPr lvl="3" rtl="0"/>
            <a:r>
              <a:rPr lang="el-GR" noProof="0"/>
              <a:t>Τέταρτου επιπέδου</a:t>
            </a:r>
          </a:p>
          <a:p>
            <a:pPr lvl="4" rtl="0"/>
            <a:r>
              <a:rPr lang="el-GR" noProof="0"/>
              <a:t>Πέμπτου επιπέδου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BC8EC62-9203-41C7-AB6A-82D42792DB35}" type="datetime1">
              <a:rPr lang="el-GR" noProof="0" smtClean="0"/>
              <a:t>23/7/2025</a:t>
            </a:fld>
            <a:endParaRPr lang="el-GR" noProof="0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l-GR" noProof="0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el-GR" noProof="0" smtClean="0"/>
              <a:t>‹#›</a:t>
            </a:fld>
            <a:endParaRPr lang="el-GR" noProof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/>
          <p:cNvSpPr>
            <a:spLocks noGrp="1"/>
          </p:cNvSpPr>
          <p:nvPr>
            <p:ph type="title" orient="vert" hasCustomPrompt="1"/>
          </p:nvPr>
        </p:nvSpPr>
        <p:spPr>
          <a:xfrm>
            <a:off x="8304212" y="430213"/>
            <a:ext cx="1752601" cy="5826125"/>
          </a:xfrm>
        </p:spPr>
        <p:txBody>
          <a:bodyPr vert="eaVert" rtlCol="0" anchor="b" anchorCtr="0"/>
          <a:lstStyle/>
          <a:p>
            <a:pPr rtl="0"/>
            <a:r>
              <a:rPr lang="el-GR" noProof="0"/>
              <a:t>Κάντε κλικ για να επεξεργαστείτε το Στυλ κύριου τίτλου</a:t>
            </a:r>
          </a:p>
        </p:txBody>
      </p:sp>
      <p:sp>
        <p:nvSpPr>
          <p:cNvPr id="3" name="Σύμβολο κράτησης θέσης κατακόρυφου κειμένου 2"/>
          <p:cNvSpPr>
            <a:spLocks noGrp="1"/>
          </p:cNvSpPr>
          <p:nvPr>
            <p:ph type="body" orient="vert" idx="1" hasCustomPrompt="1"/>
          </p:nvPr>
        </p:nvSpPr>
        <p:spPr>
          <a:xfrm>
            <a:off x="652463" y="887414"/>
            <a:ext cx="7423149" cy="5368924"/>
          </a:xfrm>
        </p:spPr>
        <p:txBody>
          <a:bodyPr vert="eaVert" rtlCol="0"/>
          <a:lstStyle/>
          <a:p>
            <a:pPr lvl="0" rtl="0"/>
            <a:r>
              <a:rPr lang="el-GR" noProof="0"/>
              <a:t>Στυλ υποδείγματος κειμένου</a:t>
            </a:r>
          </a:p>
          <a:p>
            <a:pPr lvl="1" rtl="0"/>
            <a:r>
              <a:rPr lang="el-GR" noProof="0"/>
              <a:t>Δεύτερου επιπέδου</a:t>
            </a:r>
          </a:p>
          <a:p>
            <a:pPr lvl="2" rtl="0"/>
            <a:r>
              <a:rPr lang="el-GR" noProof="0"/>
              <a:t>Τρίτου επιπέδου</a:t>
            </a:r>
          </a:p>
          <a:p>
            <a:pPr lvl="3" rtl="0"/>
            <a:r>
              <a:rPr lang="el-GR" noProof="0"/>
              <a:t>Τέταρτου επιπέδου</a:t>
            </a:r>
          </a:p>
          <a:p>
            <a:pPr lvl="4" rtl="0"/>
            <a:r>
              <a:rPr lang="el-GR" noProof="0"/>
              <a:t>Πέμπτου επιπέδου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C7D3563-67E3-4832-81A2-3C58490F92FB}" type="datetime1">
              <a:rPr lang="el-GR" noProof="0" smtClean="0"/>
              <a:t>23/7/2025</a:t>
            </a:fld>
            <a:endParaRPr lang="el-GR" noProof="0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l-GR" noProof="0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el-GR" noProof="0" smtClean="0"/>
              <a:t>‹#›</a:t>
            </a:fld>
            <a:endParaRPr lang="el-GR" noProof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Εικόνα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Εικόνα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Έλλειψη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Εικόνα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Εικόνα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Ορθογώνιο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Θέση τίτλου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rtl="0"/>
            <a:r>
              <a:rPr lang="el-GR" noProof="0"/>
              <a:t>Κάντε κλικ για να επεξεργαστείτε το Στυλ κύριου τίτλου</a:t>
            </a:r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l-GR" noProof="0"/>
              <a:t>Κάντε κλικ για επεξεργασία των στυλ κειμένου του υποδείγματος</a:t>
            </a:r>
          </a:p>
          <a:p>
            <a:pPr lvl="1" rtl="0"/>
            <a:r>
              <a:rPr lang="el-GR" noProof="0"/>
              <a:t>Δεύτερου επιπέδου</a:t>
            </a:r>
          </a:p>
          <a:p>
            <a:pPr lvl="2" rtl="0"/>
            <a:r>
              <a:rPr lang="el-GR" noProof="0"/>
              <a:t>Τρίτου επιπέδου</a:t>
            </a:r>
          </a:p>
          <a:p>
            <a:pPr lvl="3" rtl="0"/>
            <a:r>
              <a:rPr lang="el-GR" noProof="0"/>
              <a:t>Τέταρτου επιπέδου</a:t>
            </a:r>
          </a:p>
          <a:p>
            <a:pPr lvl="4" rtl="0"/>
            <a:r>
              <a:rPr lang="el-GR" noProof="0"/>
              <a:t>Πέμπτου επιπέδου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 rtl="0"/>
            <a:fld id="{A1F22A48-5C2B-4A98-953F-AFD7A8336E99}" type="datetime1">
              <a:rPr lang="el-GR" noProof="0" smtClean="0"/>
              <a:t>23/7/2025</a:t>
            </a:fld>
            <a:endParaRPr lang="el-GR" noProof="0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 rtl="0"/>
            <a:endParaRPr lang="el-GR" noProof="0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D57F1E4F-1CFF-5643-939E-02111984F565}" type="slidenum">
              <a:rPr lang="el-GR" noProof="0" smtClean="0"/>
              <a:t>‹#›</a:t>
            </a:fld>
            <a:endParaRPr lang="el-GR" noProof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Εικόνα 4" descr="αλυσίδες">
            <a:extLst>
              <a:ext uri="{FF2B5EF4-FFF2-40B4-BE49-F238E27FC236}">
                <a16:creationId xmlns:a16="http://schemas.microsoft.com/office/drawing/2014/main" id="{A4511EBC-2F3C-446D-867B-7DC328517A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Τίτλος 1">
            <a:extLst>
              <a:ext uri="{FF2B5EF4-FFF2-40B4-BE49-F238E27FC236}">
                <a16:creationId xmlns:a16="http://schemas.microsoft.com/office/drawing/2014/main" id="{3D30D32A-359B-41BB-9746-2CF3A21EE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3640" y="1143000"/>
            <a:ext cx="9944720" cy="2706623"/>
          </a:xfrm>
        </p:spPr>
        <p:txBody>
          <a:bodyPr rtlCol="0">
            <a:noAutofit/>
          </a:bodyPr>
          <a:lstStyle/>
          <a:p>
            <a:pPr algn="ctr"/>
            <a:r>
              <a:rPr lang="el-GR" sz="6000" dirty="0"/>
              <a:t>Μελέτη απόδοσης 5ης γενιάς ασυρμάτων δικτύων</a:t>
            </a:r>
            <a:endParaRPr lang="el-GR" sz="6000" noProof="1"/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B4CA222A-88BC-48F4-9AE8-2115B7D1E6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3171" y="4389119"/>
            <a:ext cx="8825658" cy="1789177"/>
          </a:xfrm>
        </p:spPr>
        <p:txBody>
          <a:bodyPr rtlCol="0">
            <a:normAutofit/>
          </a:bodyPr>
          <a:lstStyle/>
          <a:p>
            <a:pPr algn="ctr"/>
            <a:r>
              <a:rPr lang="el-GR" dirty="0"/>
              <a:t>Αργυρόπουλος Χρήστος</a:t>
            </a:r>
          </a:p>
          <a:p>
            <a:pPr algn="ctr"/>
            <a:r>
              <a:rPr lang="el-GR" dirty="0"/>
              <a:t>Α.Μ. 19013</a:t>
            </a:r>
          </a:p>
          <a:p>
            <a:pPr algn="ctr"/>
            <a:r>
              <a:rPr lang="el-GR" dirty="0"/>
              <a:t>Επιβλέποντες: Χριστίνα Πολίτη, Χρήστος Αντωνόπουλος</a:t>
            </a:r>
          </a:p>
          <a:p>
            <a:pPr algn="ctr"/>
            <a:r>
              <a:rPr lang="el-GR" dirty="0"/>
              <a:t>Τμήμα ΗΜΜΥ - Πάτρα, 2025</a:t>
            </a:r>
          </a:p>
          <a:p>
            <a:pPr algn="ctr"/>
            <a:endParaRPr lang="el-GR" dirty="0"/>
          </a:p>
        </p:txBody>
      </p:sp>
      <p:sp>
        <p:nvSpPr>
          <p:cNvPr id="20" name="Ορθογώνιο 19">
            <a:extLst>
              <a:ext uri="{FF2B5EF4-FFF2-40B4-BE49-F238E27FC236}">
                <a16:creationId xmlns:a16="http://schemas.microsoft.com/office/drawing/2014/main" id="{318E9D62-7BA3-4D5E-8915-0D0E8661E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93000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3A1AB269-9789-FA3E-ED9D-D75DDD7B3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09738"/>
          </a:xfrm>
        </p:spPr>
        <p:txBody>
          <a:bodyPr/>
          <a:lstStyle/>
          <a:p>
            <a:r>
              <a:rPr lang="el-GR" dirty="0"/>
              <a:t>Εισαγωγή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85C913D4-07F8-2893-01F9-C3C229214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0" y="1499616"/>
            <a:ext cx="9404723" cy="4748783"/>
          </a:xfrm>
        </p:spPr>
        <p:txBody>
          <a:bodyPr/>
          <a:lstStyle/>
          <a:p>
            <a:r>
              <a:rPr lang="el-GR" dirty="0"/>
              <a:t>Η συνεχής αύξηση της ζήτησης για υψηλότερες ταχύτητες, αξιοπιστία και χωρητικότητα στα δίκτυα κινητών επικοινωνιών οδήγησε στην ανάγκη για την ανάπτυξη των δικτύων 5ης γενιάς (5G).</a:t>
            </a:r>
            <a:endParaRPr lang="en-US" dirty="0"/>
          </a:p>
          <a:p>
            <a:r>
              <a:rPr lang="el-GR" dirty="0"/>
              <a:t>Το 5G διαθέτει βελτιώσεις σε κρίσιμους δείκτες απόδοσης, όπως η καθυστέρηση, το φάσμα απόδοσης και η υποστήριξη ταυτόχρονων χρηστών.</a:t>
            </a:r>
            <a:endParaRPr lang="en-US" dirty="0"/>
          </a:p>
          <a:p>
            <a:r>
              <a:rPr lang="el-GR" dirty="0"/>
              <a:t>Η παρούσα εργασία επικεντρώνεται στη μελέτη της απόδοσης του φυσικού επιπέδου (PHY) του προτύπου 5G NR.</a:t>
            </a:r>
            <a:endParaRPr lang="en-US" dirty="0"/>
          </a:p>
          <a:p>
            <a:r>
              <a:rPr lang="el-GR" dirty="0"/>
              <a:t>Ιδιαίτερη έμφαση δίνεται στη χρήση τεχνολογιών </a:t>
            </a:r>
            <a:r>
              <a:rPr lang="el-GR" dirty="0" err="1"/>
              <a:t>Massive</a:t>
            </a:r>
            <a:r>
              <a:rPr lang="el-GR" dirty="0"/>
              <a:t> MIMO και προγραμματισμού πόρων (</a:t>
            </a:r>
            <a:r>
              <a:rPr lang="el-GR" dirty="0" err="1"/>
              <a:t>scheduling</a:t>
            </a:r>
            <a:r>
              <a:rPr lang="el-GR" dirty="0"/>
              <a:t>) μέσω διαφόρων σεναρίων χρήσης.</a:t>
            </a:r>
          </a:p>
        </p:txBody>
      </p:sp>
    </p:spTree>
    <p:extLst>
      <p:ext uri="{BB962C8B-B14F-4D97-AF65-F5344CB8AC3E}">
        <p14:creationId xmlns:p14="http://schemas.microsoft.com/office/powerpoint/2010/main" val="1980526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85181D1E-298E-FAC6-2E04-FBB386D9D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37170"/>
          </a:xfrm>
        </p:spPr>
        <p:txBody>
          <a:bodyPr/>
          <a:lstStyle/>
          <a:p>
            <a:r>
              <a:rPr lang="el-GR" dirty="0"/>
              <a:t>Σκοπός και στόχοι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8DAA76DC-8865-5C10-EED1-917531353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0" y="1481328"/>
            <a:ext cx="9404723" cy="4584191"/>
          </a:xfrm>
        </p:spPr>
        <p:txBody>
          <a:bodyPr/>
          <a:lstStyle/>
          <a:p>
            <a:r>
              <a:rPr lang="el-GR" dirty="0"/>
              <a:t>Αποτίμηση της απόδοσης των δικτύων 5G NR υπό διαφορετικές </a:t>
            </a:r>
            <a:r>
              <a:rPr lang="el-GR" dirty="0" err="1"/>
              <a:t>ραδιοσυνθήκες</a:t>
            </a:r>
            <a:r>
              <a:rPr lang="el-GR" dirty="0"/>
              <a:t> και παραμέτρους λειτουργίας.</a:t>
            </a:r>
          </a:p>
          <a:p>
            <a:r>
              <a:rPr lang="el-GR" dirty="0"/>
              <a:t>Ανάλυση μέσω προσομοιώσεων σε περιβάλλον MATLAB, με έμφαση στη διαστρωμάτωση PHY/MAC.</a:t>
            </a:r>
          </a:p>
          <a:p>
            <a:r>
              <a:rPr lang="el-GR" dirty="0"/>
              <a:t>Εξαγωγή μετρήσεων για κρίσιμους δείκτες απόδοσης:</a:t>
            </a:r>
          </a:p>
          <a:p>
            <a:pPr lvl="1"/>
            <a:r>
              <a:rPr lang="el-GR" dirty="0" err="1"/>
              <a:t>Throughput</a:t>
            </a:r>
            <a:r>
              <a:rPr lang="el-GR" dirty="0"/>
              <a:t> (ρυθμός μετάδοσης δεδομένων)</a:t>
            </a:r>
          </a:p>
          <a:p>
            <a:pPr lvl="1"/>
            <a:r>
              <a:rPr lang="el-GR" dirty="0"/>
              <a:t>BLER (</a:t>
            </a:r>
            <a:r>
              <a:rPr lang="el-GR" dirty="0" err="1"/>
              <a:t>Block</a:t>
            </a:r>
            <a:r>
              <a:rPr lang="el-GR" dirty="0"/>
              <a:t> </a:t>
            </a:r>
            <a:r>
              <a:rPr lang="el-GR" dirty="0" err="1"/>
              <a:t>Error</a:t>
            </a:r>
            <a:r>
              <a:rPr lang="el-GR" dirty="0"/>
              <a:t> </a:t>
            </a:r>
            <a:r>
              <a:rPr lang="el-GR" dirty="0" err="1"/>
              <a:t>Rate</a:t>
            </a:r>
            <a:r>
              <a:rPr lang="el-GR" dirty="0"/>
              <a:t>)</a:t>
            </a:r>
          </a:p>
          <a:p>
            <a:pPr lvl="1"/>
            <a:r>
              <a:rPr lang="el-GR" dirty="0"/>
              <a:t>SE (Φασματική Αποδοτικότητα)</a:t>
            </a:r>
          </a:p>
          <a:p>
            <a:pPr lvl="1"/>
            <a:r>
              <a:rPr lang="el-GR" dirty="0" err="1"/>
              <a:t>Fairness</a:t>
            </a:r>
            <a:r>
              <a:rPr lang="el-GR" dirty="0"/>
              <a:t> (Δίκαιη Κατανομή Πόρων)</a:t>
            </a:r>
          </a:p>
        </p:txBody>
      </p:sp>
    </p:spTree>
    <p:extLst>
      <p:ext uri="{BB962C8B-B14F-4D97-AF65-F5344CB8AC3E}">
        <p14:creationId xmlns:p14="http://schemas.microsoft.com/office/powerpoint/2010/main" val="2714279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C3EDCADB-1EB4-BA55-B9A8-254E7E870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76032"/>
          </a:xfrm>
        </p:spPr>
        <p:txBody>
          <a:bodyPr/>
          <a:lstStyle/>
          <a:p>
            <a:r>
              <a:rPr lang="el-GR" dirty="0"/>
              <a:t>Θεωρητικό Υπόβαθρο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49844917-1FE5-12BB-A765-15F23F06B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428750"/>
            <a:ext cx="10120948" cy="481964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l-GR" b="1" dirty="0"/>
              <a:t>Κύρια Χαρακτηριστικά του 5</a:t>
            </a:r>
            <a:r>
              <a:rPr lang="en-US" b="1" dirty="0"/>
              <a:t>G:</a:t>
            </a:r>
          </a:p>
          <a:p>
            <a:r>
              <a:rPr lang="en-US" b="1" dirty="0" err="1"/>
              <a:t>eMBB</a:t>
            </a:r>
            <a:r>
              <a:rPr lang="en-US" b="1" dirty="0"/>
              <a:t> (Enhanced Mobile Broadband)</a:t>
            </a:r>
            <a:r>
              <a:rPr lang="en-US" dirty="0"/>
              <a:t> – </a:t>
            </a:r>
            <a:r>
              <a:rPr lang="el-GR" dirty="0"/>
              <a:t>υψηλές ταχύτητες και μεγάλη χωρητικότητα</a:t>
            </a:r>
          </a:p>
          <a:p>
            <a:r>
              <a:rPr lang="en-US" b="1" dirty="0"/>
              <a:t>URLLC (Ultra-Reliable Low-Latency Communication)</a:t>
            </a:r>
            <a:r>
              <a:rPr lang="en-US" dirty="0"/>
              <a:t> – </a:t>
            </a:r>
            <a:r>
              <a:rPr lang="el-GR" dirty="0"/>
              <a:t>εξαιρετικά χαμηλή καθυστέρηση και αξιοπιστία</a:t>
            </a:r>
          </a:p>
          <a:p>
            <a:r>
              <a:rPr lang="en-US" b="1" dirty="0" err="1"/>
              <a:t>mMTC</a:t>
            </a:r>
            <a:r>
              <a:rPr lang="en-US" b="1" dirty="0"/>
              <a:t> (Massive Machine-Type Communication)</a:t>
            </a:r>
            <a:r>
              <a:rPr lang="en-US" dirty="0"/>
              <a:t> – </a:t>
            </a:r>
            <a:r>
              <a:rPr lang="el-GR" dirty="0"/>
              <a:t>υποστήριξη τεράστιου αριθμού </a:t>
            </a:r>
            <a:r>
              <a:rPr lang="en-US" dirty="0"/>
              <a:t>IoT </a:t>
            </a:r>
            <a:r>
              <a:rPr lang="el-GR" dirty="0"/>
              <a:t>συσκευών</a:t>
            </a:r>
          </a:p>
          <a:p>
            <a:pPr marL="0" indent="0">
              <a:buNone/>
            </a:pPr>
            <a:r>
              <a:rPr lang="el-GR" b="1" dirty="0"/>
              <a:t>Βασικές Τεχνολογίες Υλοποίησης:</a:t>
            </a:r>
          </a:p>
          <a:p>
            <a:r>
              <a:rPr lang="en-US" b="1" dirty="0"/>
              <a:t>Massive MIMO</a:t>
            </a:r>
            <a:r>
              <a:rPr lang="en-US" dirty="0"/>
              <a:t> – </a:t>
            </a:r>
            <a:r>
              <a:rPr lang="el-GR" dirty="0"/>
              <a:t>Πολλαπλές κεραίες βάσης για ταυτόχρονη εξυπηρέτηση πολλών χρηστών</a:t>
            </a:r>
          </a:p>
          <a:p>
            <a:r>
              <a:rPr lang="en-US" b="1" dirty="0"/>
              <a:t>Beamforming</a:t>
            </a:r>
            <a:r>
              <a:rPr lang="en-US" dirty="0"/>
              <a:t> – </a:t>
            </a:r>
            <a:r>
              <a:rPr lang="el-GR" dirty="0" err="1"/>
              <a:t>Στοχευμένη</a:t>
            </a:r>
            <a:r>
              <a:rPr lang="el-GR" dirty="0"/>
              <a:t> μετάδοση σήματος προς κάθε χρήστη με βάση το </a:t>
            </a:r>
            <a:r>
              <a:rPr lang="en-US" dirty="0"/>
              <a:t>CSI</a:t>
            </a:r>
          </a:p>
          <a:p>
            <a:r>
              <a:rPr lang="en-US" b="1" dirty="0"/>
              <a:t>Full Duplex</a:t>
            </a:r>
            <a:r>
              <a:rPr lang="en-US" dirty="0"/>
              <a:t> – </a:t>
            </a:r>
            <a:r>
              <a:rPr lang="el-GR" dirty="0"/>
              <a:t>Ταυτόχρονη μετάδοση και λήψη στην ίδια συχνότητα</a:t>
            </a:r>
          </a:p>
        </p:txBody>
      </p:sp>
    </p:spTree>
    <p:extLst>
      <p:ext uri="{BB962C8B-B14F-4D97-AF65-F5344CB8AC3E}">
        <p14:creationId xmlns:p14="http://schemas.microsoft.com/office/powerpoint/2010/main" val="2763208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D8BB202B-3541-4FB1-6FBD-50B2687CA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Μεθοδολογία / Εργαλεία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94766EA6-78B3-DE2B-2701-33F16B47F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0" y="1451610"/>
            <a:ext cx="10223819" cy="47967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l-GR" b="1" dirty="0"/>
              <a:t>Περιβάλλον Ανάπτυξης:</a:t>
            </a:r>
          </a:p>
          <a:p>
            <a:r>
              <a:rPr lang="en-US" b="1" dirty="0"/>
              <a:t>MATLAB 5G Toolbox:</a:t>
            </a:r>
            <a:r>
              <a:rPr lang="en-US" dirty="0"/>
              <a:t> </a:t>
            </a:r>
            <a:r>
              <a:rPr lang="el-GR" dirty="0"/>
              <a:t>Υλοποίηση και ανάλυση 5</a:t>
            </a:r>
            <a:r>
              <a:rPr lang="en-US" dirty="0"/>
              <a:t>G NR </a:t>
            </a:r>
            <a:r>
              <a:rPr lang="el-GR" dirty="0"/>
              <a:t>συνδέσεων σε επίπεδο </a:t>
            </a:r>
            <a:r>
              <a:rPr lang="en-US" dirty="0"/>
              <a:t>PHY/MAC</a:t>
            </a:r>
          </a:p>
          <a:p>
            <a:pPr marL="0" indent="0">
              <a:buNone/>
            </a:pPr>
            <a:r>
              <a:rPr lang="el-GR" b="1" dirty="0"/>
              <a:t>Παραμετροποίηση Σεναρίων:</a:t>
            </a:r>
          </a:p>
          <a:p>
            <a:r>
              <a:rPr lang="el-GR" dirty="0"/>
              <a:t>Συχνότητες: </a:t>
            </a:r>
            <a:r>
              <a:rPr lang="el-GR" b="1" dirty="0"/>
              <a:t>2.5 </a:t>
            </a:r>
            <a:r>
              <a:rPr lang="en-US" b="1" dirty="0"/>
              <a:t>GHz </a:t>
            </a:r>
            <a:r>
              <a:rPr lang="el-GR" b="1" dirty="0"/>
              <a:t>και 7 </a:t>
            </a:r>
            <a:r>
              <a:rPr lang="en-US" b="1" dirty="0"/>
              <a:t>GHz</a:t>
            </a:r>
            <a:endParaRPr lang="en-US" dirty="0"/>
          </a:p>
          <a:p>
            <a:r>
              <a:rPr lang="en-US" dirty="0"/>
              <a:t>Bandwidths: </a:t>
            </a:r>
            <a:r>
              <a:rPr lang="en-US" b="1" dirty="0"/>
              <a:t>5, 10 </a:t>
            </a:r>
            <a:r>
              <a:rPr lang="el-GR" b="1" dirty="0"/>
              <a:t>και 15 </a:t>
            </a:r>
            <a:r>
              <a:rPr lang="en-US" b="1" dirty="0"/>
              <a:t>MHz</a:t>
            </a:r>
            <a:endParaRPr lang="en-US" dirty="0"/>
          </a:p>
          <a:p>
            <a:r>
              <a:rPr lang="el-GR" dirty="0"/>
              <a:t>Αριθμός χρηστών: </a:t>
            </a:r>
            <a:r>
              <a:rPr lang="el-GR" b="1" dirty="0"/>
              <a:t>1 έως 4 χρήστες</a:t>
            </a:r>
            <a:endParaRPr lang="el-GR" dirty="0"/>
          </a:p>
          <a:p>
            <a:r>
              <a:rPr lang="el-GR" dirty="0"/>
              <a:t>Τύπος καναλιού: </a:t>
            </a:r>
            <a:r>
              <a:rPr lang="en-US" b="1" dirty="0" err="1"/>
              <a:t>RMa</a:t>
            </a:r>
            <a:r>
              <a:rPr lang="en-US" b="1" dirty="0"/>
              <a:t> (Rural Macro)</a:t>
            </a:r>
            <a:r>
              <a:rPr lang="en-US" dirty="0"/>
              <a:t> – </a:t>
            </a:r>
            <a:r>
              <a:rPr lang="el-GR" dirty="0"/>
              <a:t>ευνοεί μεγάλα </a:t>
            </a:r>
            <a:r>
              <a:rPr lang="en-US" dirty="0"/>
              <a:t>cell radius</a:t>
            </a:r>
          </a:p>
          <a:p>
            <a:pPr marL="0" indent="0">
              <a:buNone/>
            </a:pPr>
            <a:r>
              <a:rPr lang="el-GR" b="1" dirty="0"/>
              <a:t>Μοντέλα Κυκλοφορίας:</a:t>
            </a:r>
          </a:p>
          <a:p>
            <a:r>
              <a:rPr lang="el-GR" b="1" dirty="0"/>
              <a:t>Στατικά σενάρια: </a:t>
            </a:r>
            <a:r>
              <a:rPr lang="el-GR" dirty="0"/>
              <a:t>Συνεχές </a:t>
            </a:r>
            <a:r>
              <a:rPr lang="en-US" dirty="0"/>
              <a:t>application traffic</a:t>
            </a:r>
          </a:p>
          <a:p>
            <a:r>
              <a:rPr lang="el-GR" b="1" dirty="0"/>
              <a:t>Δυναμικά σενάρια</a:t>
            </a:r>
            <a:r>
              <a:rPr lang="el-GR" dirty="0"/>
              <a:t>: </a:t>
            </a:r>
            <a:r>
              <a:rPr lang="en-US" dirty="0"/>
              <a:t>ON/OFF traffic patterns – </a:t>
            </a:r>
            <a:r>
              <a:rPr lang="el-GR" dirty="0"/>
              <a:t>εναλλαγή φορτίου με χρόνο</a:t>
            </a:r>
          </a:p>
          <a:p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3661394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DFD0265E-5F5D-8745-9AA7-5B2CB11B2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Αποτελέσματα Στατικών Σεναρίων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FDA51183-EF25-0369-6A0D-4EAD449775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0" y="1428750"/>
            <a:ext cx="9404723" cy="481964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l-GR" b="1" dirty="0"/>
              <a:t>Συνοπτικά ευρήματα:</a:t>
            </a:r>
          </a:p>
          <a:p>
            <a:r>
              <a:rPr lang="el-GR" dirty="0"/>
              <a:t>Η αύξηση των ταυτόχρονων χρηστών οδηγεί σε </a:t>
            </a:r>
            <a:r>
              <a:rPr lang="el-GR" b="1" dirty="0"/>
              <a:t>μείωση του ρυθμού μετάδοσης (</a:t>
            </a:r>
            <a:r>
              <a:rPr lang="el-GR" b="1" dirty="0" err="1"/>
              <a:t>Throughput</a:t>
            </a:r>
            <a:r>
              <a:rPr lang="el-GR" b="1" dirty="0"/>
              <a:t>)</a:t>
            </a:r>
            <a:r>
              <a:rPr lang="el-GR" dirty="0"/>
              <a:t>, τόσο στο </a:t>
            </a:r>
            <a:r>
              <a:rPr lang="el-GR" b="1" dirty="0" err="1"/>
              <a:t>downlink</a:t>
            </a:r>
            <a:r>
              <a:rPr lang="el-GR" b="1" dirty="0"/>
              <a:t> (λήψη)</a:t>
            </a:r>
            <a:r>
              <a:rPr lang="el-GR" dirty="0"/>
              <a:t> όσο και στο </a:t>
            </a:r>
            <a:r>
              <a:rPr lang="el-GR" b="1" dirty="0" err="1"/>
              <a:t>uplink</a:t>
            </a:r>
            <a:r>
              <a:rPr lang="el-GR" b="1" dirty="0"/>
              <a:t> (αποστολή)</a:t>
            </a:r>
            <a:endParaRPr lang="el-GR" dirty="0"/>
          </a:p>
          <a:p>
            <a:r>
              <a:rPr lang="el-GR" dirty="0"/>
              <a:t>Η </a:t>
            </a:r>
            <a:r>
              <a:rPr lang="el-GR" b="1" dirty="0"/>
              <a:t>φασματική αποδοτικότητα (</a:t>
            </a:r>
            <a:r>
              <a:rPr lang="el-GR" b="1" dirty="0" err="1"/>
              <a:t>Spectral</a:t>
            </a:r>
            <a:r>
              <a:rPr lang="el-GR" b="1" dirty="0"/>
              <a:t> </a:t>
            </a:r>
            <a:r>
              <a:rPr lang="el-GR" b="1" dirty="0" err="1"/>
              <a:t>Efficiency</a:t>
            </a:r>
            <a:r>
              <a:rPr lang="el-GR" b="1" dirty="0"/>
              <a:t>)</a:t>
            </a:r>
            <a:r>
              <a:rPr lang="el-GR" dirty="0"/>
              <a:t> περιορίζεται, καθώς το σύστημα δεν μπορεί να διατηρήσει υψηλές τιμές διαμόρφωσης και κωδικοποίησης (</a:t>
            </a:r>
            <a:r>
              <a:rPr lang="el-GR" b="1" dirty="0"/>
              <a:t>MCS – </a:t>
            </a:r>
            <a:r>
              <a:rPr lang="el-GR" b="1" dirty="0" err="1"/>
              <a:t>Modulation</a:t>
            </a:r>
            <a:r>
              <a:rPr lang="el-GR" b="1" dirty="0"/>
              <a:t> and </a:t>
            </a:r>
            <a:r>
              <a:rPr lang="el-GR" b="1" dirty="0" err="1"/>
              <a:t>Coding</a:t>
            </a:r>
            <a:r>
              <a:rPr lang="el-GR" b="1" dirty="0"/>
              <a:t> </a:t>
            </a:r>
            <a:r>
              <a:rPr lang="el-GR" b="1" dirty="0" err="1"/>
              <a:t>Scheme</a:t>
            </a:r>
            <a:r>
              <a:rPr lang="el-GR" dirty="0"/>
              <a:t>)</a:t>
            </a:r>
          </a:p>
          <a:p>
            <a:r>
              <a:rPr lang="el-GR" dirty="0"/>
              <a:t>Η απόδοση ανά χρήστη επηρεάζεται σημαντικά από την </a:t>
            </a:r>
            <a:r>
              <a:rPr lang="el-GR" b="1" dirty="0"/>
              <a:t>απόσταση από τον σταθμό βάσης</a:t>
            </a:r>
            <a:r>
              <a:rPr lang="el-GR" dirty="0"/>
              <a:t> – μεγαλύτερη απόσταση συνεπάγεται </a:t>
            </a:r>
            <a:r>
              <a:rPr lang="el-GR" b="1" dirty="0"/>
              <a:t>χειρότερη ποιότητα καναλιού</a:t>
            </a:r>
            <a:endParaRPr lang="el-GR" dirty="0"/>
          </a:p>
          <a:p>
            <a:r>
              <a:rPr lang="el-GR" dirty="0"/>
              <a:t>Παρατηρείται </a:t>
            </a:r>
            <a:r>
              <a:rPr lang="el-GR" b="1" dirty="0"/>
              <a:t>ανισότητα (</a:t>
            </a:r>
            <a:r>
              <a:rPr lang="el-GR" b="1" dirty="0" err="1"/>
              <a:t>unfairness</a:t>
            </a:r>
            <a:r>
              <a:rPr lang="el-GR" b="1" dirty="0"/>
              <a:t>)</a:t>
            </a:r>
            <a:r>
              <a:rPr lang="el-GR" dirty="0"/>
              <a:t> στην κατανομή των πόρων, με χρήστες σε δυσμενή θέση να λαμβάνουν πολύ χαμηλότερη απόδοση</a:t>
            </a:r>
          </a:p>
          <a:p>
            <a:r>
              <a:rPr lang="el-GR" dirty="0"/>
              <a:t>Το σύστημα παρουσιάζει </a:t>
            </a:r>
            <a:r>
              <a:rPr lang="el-GR" b="1" dirty="0"/>
              <a:t>φαινόμενα κορεσμού</a:t>
            </a:r>
            <a:r>
              <a:rPr lang="el-GR" dirty="0"/>
              <a:t>, ο </a:t>
            </a:r>
            <a:r>
              <a:rPr lang="el-GR" b="1" dirty="0" err="1"/>
              <a:t>scheduler</a:t>
            </a:r>
            <a:r>
              <a:rPr lang="el-GR" b="1" dirty="0"/>
              <a:t> </a:t>
            </a:r>
            <a:r>
              <a:rPr lang="el-GR" b="1" dirty="0" err="1"/>
              <a:t>Round</a:t>
            </a:r>
            <a:r>
              <a:rPr lang="el-GR" b="1" dirty="0"/>
              <a:t> </a:t>
            </a:r>
            <a:r>
              <a:rPr lang="el-GR" b="1" dirty="0" err="1"/>
              <a:t>Robin</a:t>
            </a:r>
            <a:r>
              <a:rPr lang="el-GR"/>
              <a:t> </a:t>
            </a:r>
            <a:r>
              <a:rPr lang="el-GR" dirty="0"/>
              <a:t>δεν προσαρμόζεται στις συνθήκες και </a:t>
            </a:r>
            <a:r>
              <a:rPr lang="el-GR" b="1" dirty="0"/>
              <a:t>κατανέμει τους πόρους ισομερώς αλλά όχι έξυπνα</a:t>
            </a:r>
          </a:p>
          <a:p>
            <a:pPr marL="0" indent="0">
              <a:buNone/>
            </a:pP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2034864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61174-5893-BA00-20F6-640EE6982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F24F7AD0-A653-16F4-1E6B-0DF66598D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 anchor="t">
            <a:normAutofit/>
          </a:bodyPr>
          <a:lstStyle/>
          <a:p>
            <a:r>
              <a:rPr lang="el-GR" dirty="0"/>
              <a:t>Αποτελέσματα Στατικών Σεναρίων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F2BFBB5-7BD7-7615-8709-31F47D9C58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6112" y="1623061"/>
            <a:ext cx="4853540" cy="4633278"/>
          </a:xfrm>
        </p:spPr>
        <p:txBody>
          <a:bodyPr>
            <a:normAutofit lnSpcReduction="10000"/>
          </a:bodyPr>
          <a:lstStyle/>
          <a:p>
            <a:r>
              <a:rPr lang="el-GR" dirty="0"/>
              <a:t>Το γράφημα παρουσιάζει τη μέση και ελάχιστη απόδοση (</a:t>
            </a:r>
            <a:r>
              <a:rPr lang="el-GR" dirty="0" err="1"/>
              <a:t>throughput</a:t>
            </a:r>
            <a:r>
              <a:rPr lang="el-GR" dirty="0"/>
              <a:t>) σε DL και UL, ανάλογα με τον αριθμό ταυτόχρονων χρηστών.</a:t>
            </a:r>
          </a:p>
          <a:p>
            <a:r>
              <a:rPr lang="el-GR" dirty="0"/>
              <a:t>Παρατηρείται αισθητή μείωση της απόδοσης με την αύξηση των χρηστών. Η ελάχιστη DL</a:t>
            </a:r>
            <a:r>
              <a:rPr lang="en-US" dirty="0"/>
              <a:t> </a:t>
            </a:r>
            <a:r>
              <a:rPr lang="el-GR" dirty="0"/>
              <a:t>και </a:t>
            </a:r>
            <a:r>
              <a:rPr lang="en-US" dirty="0"/>
              <a:t>UL</a:t>
            </a:r>
            <a:r>
              <a:rPr lang="el-GR" dirty="0"/>
              <a:t> επίδοση αντιστοιχεί στον πιο απομακρυσμένο χρήστη αντίστοιχα σε κάθε σενάριο και οφείλεται σε κακή ποιότητα καναλιού (χαμηλό SINR), όχι άμεσα σε άνιση κατανομή πόρων.</a:t>
            </a:r>
          </a:p>
          <a:p>
            <a:r>
              <a:rPr lang="el-GR" dirty="0"/>
              <a:t>Ο </a:t>
            </a:r>
            <a:r>
              <a:rPr lang="el-GR" dirty="0" err="1"/>
              <a:t>scheduler</a:t>
            </a:r>
            <a:r>
              <a:rPr lang="el-GR" dirty="0"/>
              <a:t> (</a:t>
            </a:r>
            <a:r>
              <a:rPr lang="el-GR" dirty="0" err="1"/>
              <a:t>Round</a:t>
            </a:r>
            <a:r>
              <a:rPr lang="el-GR" dirty="0"/>
              <a:t> </a:t>
            </a:r>
            <a:r>
              <a:rPr lang="el-GR" dirty="0" err="1"/>
              <a:t>Robin</a:t>
            </a:r>
            <a:r>
              <a:rPr lang="el-GR" dirty="0"/>
              <a:t>) προσπαθεί να  κατανέμει ισόποσα τους πόρους, αλλά χρήστες με φτωχό κανάλι δεν μπορούν να τους αξιοποιήσουν πλήρως.</a:t>
            </a:r>
            <a:endParaRPr lang="en-US" dirty="0"/>
          </a:p>
        </p:txBody>
      </p:sp>
      <p:pic>
        <p:nvPicPr>
          <p:cNvPr id="5" name="Θέση περιεχομένου 4" descr="Εικόνα που περιέχει κείμενο, στιγμιότυπο οθόνης, διάγραμμα, γραμμή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9A19E8AB-EAAE-34CE-C708-23AFA5677A4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499652" y="1853248"/>
            <a:ext cx="6131230" cy="3678736"/>
          </a:xfrm>
          <a:noFill/>
        </p:spPr>
      </p:pic>
    </p:spTree>
    <p:extLst>
      <p:ext uri="{BB962C8B-B14F-4D97-AF65-F5344CB8AC3E}">
        <p14:creationId xmlns:p14="http://schemas.microsoft.com/office/powerpoint/2010/main" val="6690089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54419-52E1-7B08-7A5C-2BEAB4497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C168202-2A01-5EB7-3296-5960B4457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Αποτελέσματα Δυναμικών Σεναρίων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A13D552E-E149-9072-99BA-A487F2ACE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0" y="1428750"/>
            <a:ext cx="9404723" cy="48196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l-GR" b="1" dirty="0"/>
              <a:t>Συνοπτικά ευρήματα:</a:t>
            </a:r>
          </a:p>
          <a:p>
            <a:r>
              <a:rPr lang="el-GR" dirty="0"/>
              <a:t>Το σύστημα 5G NR </a:t>
            </a:r>
            <a:r>
              <a:rPr lang="el-GR" b="1" dirty="0"/>
              <a:t>ανταποκρίνεται σταθερά</a:t>
            </a:r>
            <a:r>
              <a:rPr lang="el-GR" dirty="0"/>
              <a:t> σε μεταβαλλόμενα </a:t>
            </a:r>
            <a:r>
              <a:rPr lang="el-GR" dirty="0" err="1"/>
              <a:t>traffic</a:t>
            </a:r>
            <a:r>
              <a:rPr lang="el-GR" dirty="0"/>
              <a:t> </a:t>
            </a:r>
            <a:r>
              <a:rPr lang="el-GR" dirty="0" err="1"/>
              <a:t>patterns</a:t>
            </a:r>
            <a:endParaRPr lang="el-GR" dirty="0"/>
          </a:p>
          <a:p>
            <a:r>
              <a:rPr lang="el-GR" dirty="0"/>
              <a:t>Τα ON/OFF </a:t>
            </a:r>
            <a:r>
              <a:rPr lang="el-GR" dirty="0" err="1"/>
              <a:t>traffic</a:t>
            </a:r>
            <a:r>
              <a:rPr lang="el-GR" dirty="0"/>
              <a:t> </a:t>
            </a:r>
            <a:r>
              <a:rPr lang="el-GR" dirty="0" err="1"/>
              <a:t>profiles</a:t>
            </a:r>
            <a:r>
              <a:rPr lang="el-GR" dirty="0"/>
              <a:t> αναπαριστούν </a:t>
            </a:r>
            <a:r>
              <a:rPr lang="el-GR" b="1" dirty="0"/>
              <a:t>ρεαλιστικές εφαρμογές</a:t>
            </a:r>
            <a:r>
              <a:rPr lang="el-GR" dirty="0"/>
              <a:t> (π.χ. </a:t>
            </a:r>
            <a:r>
              <a:rPr lang="el-GR" dirty="0" err="1"/>
              <a:t>browsing</a:t>
            </a:r>
            <a:r>
              <a:rPr lang="el-GR" dirty="0"/>
              <a:t>, </a:t>
            </a:r>
            <a:r>
              <a:rPr lang="el-GR" dirty="0" err="1"/>
              <a:t>notifications</a:t>
            </a:r>
            <a:r>
              <a:rPr lang="el-GR" dirty="0"/>
              <a:t>, </a:t>
            </a:r>
            <a:r>
              <a:rPr lang="el-GR" dirty="0" err="1"/>
              <a:t>streaming</a:t>
            </a:r>
            <a:r>
              <a:rPr lang="el-GR" dirty="0"/>
              <a:t>)</a:t>
            </a:r>
          </a:p>
          <a:p>
            <a:r>
              <a:rPr lang="el-GR" dirty="0"/>
              <a:t>Ο </a:t>
            </a:r>
            <a:r>
              <a:rPr lang="el-GR" dirty="0" err="1"/>
              <a:t>scheduler</a:t>
            </a:r>
            <a:r>
              <a:rPr lang="el-GR" dirty="0"/>
              <a:t> προσαρμόζεται </a:t>
            </a:r>
            <a:r>
              <a:rPr lang="el-GR" b="1" dirty="0"/>
              <a:t>με βάση την πληρότητα των </a:t>
            </a:r>
            <a:r>
              <a:rPr lang="el-GR" b="1" dirty="0" err="1"/>
              <a:t>buffer</a:t>
            </a:r>
            <a:r>
              <a:rPr lang="el-GR" dirty="0"/>
              <a:t>, εξυπηρετώντας ενεργούς χρήστες</a:t>
            </a:r>
          </a:p>
          <a:p>
            <a:r>
              <a:rPr lang="el-GR" b="1" dirty="0"/>
              <a:t>Δεν παρατηρείται συμφόρηση</a:t>
            </a:r>
            <a:r>
              <a:rPr lang="el-GR" dirty="0"/>
              <a:t>, ακόμα και με πολλαπλούς ασύγχρονους χρήστες</a:t>
            </a:r>
          </a:p>
          <a:p>
            <a:r>
              <a:rPr lang="el-GR" dirty="0"/>
              <a:t>Οι δείκτες απόδοσης (</a:t>
            </a:r>
            <a:r>
              <a:rPr lang="el-GR" b="1" dirty="0" err="1"/>
              <a:t>throughput</a:t>
            </a:r>
            <a:r>
              <a:rPr lang="el-GR" b="1" dirty="0"/>
              <a:t>, BLER, </a:t>
            </a:r>
            <a:r>
              <a:rPr lang="el-GR" b="1" dirty="0" err="1"/>
              <a:t>spectral</a:t>
            </a:r>
            <a:r>
              <a:rPr lang="el-GR" b="1" dirty="0"/>
              <a:t> </a:t>
            </a:r>
            <a:r>
              <a:rPr lang="el-GR" b="1" dirty="0" err="1"/>
              <a:t>efficiency</a:t>
            </a:r>
            <a:r>
              <a:rPr lang="el-GR" dirty="0"/>
              <a:t>) παραμένουν </a:t>
            </a:r>
            <a:r>
              <a:rPr lang="el-GR" b="1" dirty="0"/>
              <a:t>εντός αποδεκτών τιμών</a:t>
            </a:r>
            <a:endParaRPr lang="el-GR" dirty="0"/>
          </a:p>
          <a:p>
            <a:pPr marL="0" indent="0">
              <a:buNone/>
            </a:pP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1217149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C0042-CBA6-55C6-9670-84D7EDCBE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C40C38BE-32A5-2E9F-143B-D9E7543DA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/>
          <a:lstStyle/>
          <a:p>
            <a:r>
              <a:rPr lang="el-GR" dirty="0"/>
              <a:t>Αποτελέσματα Δυναμικών Σεναρίων</a:t>
            </a:r>
          </a:p>
        </p:txBody>
      </p:sp>
      <p:pic>
        <p:nvPicPr>
          <p:cNvPr id="4" name="Θέση περιεχομένου 3" descr="Εικόνα που περιέχει στιγμιότυπο οθόνης, γράφημα, γραμμή, λογισμικό γραφικών&#10;&#10;Το περιεχόμενο που δημιουργείται από τεχνολογία AI ενδέχεται να είναι εσφαλμένο.">
            <a:extLst>
              <a:ext uri="{FF2B5EF4-FFF2-40B4-BE49-F238E27FC236}">
                <a16:creationId xmlns:a16="http://schemas.microsoft.com/office/drawing/2014/main" id="{C5FDF816-BB6C-63FA-A98E-C07D608841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86500" y="2430950"/>
            <a:ext cx="5801361" cy="2783451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3BA30F9-89D9-05DB-A7BE-68D0B51DC07C}"/>
              </a:ext>
            </a:extLst>
          </p:cNvPr>
          <p:cNvSpPr txBox="1"/>
          <p:nvPr/>
        </p:nvSpPr>
        <p:spPr>
          <a:xfrm>
            <a:off x="297519" y="1643599"/>
            <a:ext cx="5988981" cy="47500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CD433"/>
              </a:buClr>
              <a:buSzPct val="80000"/>
              <a:buFont typeface="Wingdings 3" charset="2"/>
              <a:buChar char=""/>
              <a:tabLst/>
              <a:defRPr/>
            </a:pPr>
            <a:r>
              <a:rPr lang="el-GR" dirty="0"/>
              <a:t>Το γράφημα του </a:t>
            </a:r>
            <a:r>
              <a:rPr lang="el-GR" dirty="0" err="1"/>
              <a:t>buffer</a:t>
            </a:r>
            <a:r>
              <a:rPr lang="el-GR" dirty="0"/>
              <a:t> αποτυπώνει ξεκάθαρα τη διακοπτόμενη δραστηριότητα των χρηστών UE2, UE3 και UE4 σύμφωνα με τα ON/OFF προφίλ τους.</a:t>
            </a:r>
            <a:br>
              <a:rPr lang="el-GR" dirty="0"/>
            </a:br>
            <a:r>
              <a:rPr lang="el-GR" dirty="0"/>
              <a:t>Ο UE1 διατηρεί σταθερό </a:t>
            </a:r>
            <a:r>
              <a:rPr lang="el-GR" dirty="0" err="1"/>
              <a:t>buffer</a:t>
            </a:r>
            <a:r>
              <a:rPr lang="el-GR" dirty="0"/>
              <a:t>, καθώς είναι συνεχώς ενεργός (100% ON), ενώ οι υπόλοιποι εμφανίζουν πτώση και </a:t>
            </a:r>
            <a:r>
              <a:rPr lang="el-GR" dirty="0" err="1"/>
              <a:t>επαναπλήρωση</a:t>
            </a:r>
            <a:r>
              <a:rPr lang="el-GR" dirty="0"/>
              <a:t> ανά κύκλο.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CD433"/>
              </a:buClr>
              <a:buSzPct val="80000"/>
              <a:buFont typeface="Wingdings 3" charset="2"/>
              <a:buChar char=""/>
              <a:tabLst/>
              <a:defRPr/>
            </a:pPr>
            <a:r>
              <a:rPr lang="el-GR" dirty="0"/>
              <a:t>Το </a:t>
            </a:r>
            <a:r>
              <a:rPr lang="el-GR" dirty="0" err="1"/>
              <a:t>throughput</a:t>
            </a:r>
            <a:r>
              <a:rPr lang="el-GR" dirty="0"/>
              <a:t> ακολουθεί την κίνηση των </a:t>
            </a:r>
            <a:r>
              <a:rPr lang="el-GR" dirty="0" err="1"/>
              <a:t>buffer</a:t>
            </a:r>
            <a:r>
              <a:rPr lang="el-GR" dirty="0"/>
              <a:t>: όταν ένας UE περνάει σε OFF φάση, το </a:t>
            </a:r>
            <a:r>
              <a:rPr lang="el-GR" dirty="0" err="1"/>
              <a:t>throughput</a:t>
            </a:r>
            <a:r>
              <a:rPr lang="el-GR" dirty="0"/>
              <a:t> του μειώνεται και αυξάνεται ξανά με την είσοδο στην ON περίοδο.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CD433"/>
              </a:buClr>
              <a:buSzPct val="80000"/>
              <a:buFont typeface="Wingdings 3" charset="2"/>
              <a:buChar char=""/>
              <a:tabLst/>
              <a:defRPr/>
            </a:pPr>
            <a:r>
              <a:rPr lang="el-GR" dirty="0"/>
              <a:t>Η συνολική συμπεριφορά δείχνει ότι το σύστημα ανταποκρίνεται ικανοποιητικά στην ασύγχρονη κίνηση, κατανέμοντας πόρους με βάση τις στιγμιαίες ανάγκες μετάδοσης.</a:t>
            </a:r>
          </a:p>
          <a:p>
            <a:endParaRPr lang="el-GR" sz="1600" dirty="0"/>
          </a:p>
        </p:txBody>
      </p:sp>
    </p:spTree>
    <p:extLst>
      <p:ext uri="{BB962C8B-B14F-4D97-AF65-F5344CB8AC3E}">
        <p14:creationId xmlns:p14="http://schemas.microsoft.com/office/powerpoint/2010/main" val="1909025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20B6053-7A97-2761-08C4-31AE2CA13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53172"/>
          </a:xfrm>
        </p:spPr>
        <p:txBody>
          <a:bodyPr/>
          <a:lstStyle/>
          <a:p>
            <a:r>
              <a:rPr lang="el-GR" dirty="0"/>
              <a:t>Αποτελέσματα Δυναμικών Σεναρίων</a:t>
            </a:r>
          </a:p>
        </p:txBody>
      </p:sp>
      <p:pic>
        <p:nvPicPr>
          <p:cNvPr id="5" name="Εικόνα 4" descr="Εικόνα που περιέχει στιγμιότυπο οθόνης, κείμενο, γραμμή, διάγραμμα&#10;&#10;Το περιεχόμενο που δημιουργείται από τεχνολογία AI ενδέχεται να είναι εσφαλμένο.">
            <a:extLst>
              <a:ext uri="{FF2B5EF4-FFF2-40B4-BE49-F238E27FC236}">
                <a16:creationId xmlns:a16="http://schemas.microsoft.com/office/drawing/2014/main" id="{C1D297C1-793B-77A4-3A81-F4A28803F2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6109" y="1752263"/>
            <a:ext cx="4712969" cy="427549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Θέση περιεχομένου 6">
            <a:extLst>
              <a:ext uri="{FF2B5EF4-FFF2-40B4-BE49-F238E27FC236}">
                <a16:creationId xmlns:a16="http://schemas.microsoft.com/office/drawing/2014/main" id="{2F47EBD8-93B8-1383-D2CA-F55605D1FE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531620"/>
            <a:ext cx="6329998" cy="4716779"/>
          </a:xfrm>
        </p:spPr>
        <p:txBody>
          <a:bodyPr>
            <a:normAutofit fontScale="92500" lnSpcReduction="10000"/>
          </a:bodyPr>
          <a:lstStyle/>
          <a:p>
            <a:r>
              <a:rPr lang="el-GR" dirty="0"/>
              <a:t>Το γράφημα αναδεικνύει τη </a:t>
            </a:r>
            <a:r>
              <a:rPr lang="el-GR" b="1" dirty="0"/>
              <a:t>δυναμική συμπεριφορά του </a:t>
            </a:r>
            <a:r>
              <a:rPr lang="el-GR" b="1" dirty="0" err="1"/>
              <a:t>scheduler</a:t>
            </a:r>
            <a:r>
              <a:rPr lang="el-GR" dirty="0"/>
              <a:t>, ο οποίος ανακατανέμει πόρους με βάση τη δραστηριότητα και την πληρότητα του </a:t>
            </a:r>
            <a:r>
              <a:rPr lang="el-GR" dirty="0" err="1"/>
              <a:t>buffer</a:t>
            </a:r>
            <a:r>
              <a:rPr lang="el-GR" dirty="0"/>
              <a:t> κάθε χρήστη.</a:t>
            </a:r>
          </a:p>
          <a:p>
            <a:r>
              <a:rPr lang="el-GR" dirty="0"/>
              <a:t>Ο </a:t>
            </a:r>
            <a:r>
              <a:rPr lang="el-GR" b="1" dirty="0"/>
              <a:t>UE1</a:t>
            </a:r>
            <a:r>
              <a:rPr lang="el-GR" dirty="0"/>
              <a:t> διατηρεί </a:t>
            </a:r>
            <a:r>
              <a:rPr lang="el-GR" b="1" dirty="0"/>
              <a:t>σταθερή απόδοση</a:t>
            </a:r>
            <a:r>
              <a:rPr lang="el-GR" dirty="0"/>
              <a:t> ως συνεχώς ενεργός χρήστης. Ο </a:t>
            </a:r>
            <a:r>
              <a:rPr lang="el-GR" b="1" dirty="0"/>
              <a:t>UE2</a:t>
            </a:r>
            <a:r>
              <a:rPr lang="el-GR" dirty="0"/>
              <a:t>, που ακολουθεί μεγάλο κύκλο ON/OFF, εμφανίζει </a:t>
            </a:r>
            <a:r>
              <a:rPr lang="el-GR" b="1" dirty="0"/>
              <a:t>προοδευτική πτώση</a:t>
            </a:r>
            <a:r>
              <a:rPr lang="el-GR" dirty="0"/>
              <a:t> καθώς εισέρχεται σε OFF φάση.</a:t>
            </a:r>
          </a:p>
          <a:p>
            <a:r>
              <a:rPr lang="el-GR" dirty="0"/>
              <a:t>Οι </a:t>
            </a:r>
            <a:r>
              <a:rPr lang="el-GR" b="1" dirty="0"/>
              <a:t>UE3 και UE4</a:t>
            </a:r>
            <a:r>
              <a:rPr lang="el-GR" dirty="0"/>
              <a:t>, παρά τη διακοπτόμενη παρουσία τους, φτάνουν </a:t>
            </a:r>
            <a:r>
              <a:rPr lang="el-GR" b="1" dirty="0"/>
              <a:t>υψηλότερο </a:t>
            </a:r>
            <a:r>
              <a:rPr lang="el-GR" b="1" dirty="0" err="1"/>
              <a:t>throughput</a:t>
            </a:r>
            <a:r>
              <a:rPr lang="el-GR" b="1" dirty="0"/>
              <a:t> προς το τέλος</a:t>
            </a:r>
            <a:r>
              <a:rPr lang="el-GR" dirty="0"/>
              <a:t>, αξιοποιώντας τους πόρους που απελευθερώνονται από τον UE2.</a:t>
            </a:r>
          </a:p>
          <a:p>
            <a:r>
              <a:rPr lang="el-GR" dirty="0"/>
              <a:t>Αυτό αποδεικνύει ότι το σύστημα </a:t>
            </a:r>
            <a:r>
              <a:rPr lang="el-GR" b="1" dirty="0"/>
              <a:t>παρακολουθεί ενεργά την κίνηση</a:t>
            </a:r>
            <a:r>
              <a:rPr lang="el-GR" dirty="0"/>
              <a:t> και δίνει προτεραιότητα στους πιο ενεργούς </a:t>
            </a:r>
            <a:r>
              <a:rPr lang="el-GR" dirty="0" err="1"/>
              <a:t>buffers</a:t>
            </a:r>
            <a:r>
              <a:rPr lang="el-GR" dirty="0"/>
              <a:t>, ανεξάρτητα από το αν ο χρήστης είναι συνεχής ή περιοδικός.</a:t>
            </a:r>
          </a:p>
          <a:p>
            <a:pPr marL="0" indent="0">
              <a:buNone/>
            </a:pP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2359188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E3201B1-4BBF-8408-298D-E53567799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Συνολικά Συμπεράσματα 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90173BA3-C0E0-3567-E28B-AA89BB59B7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0" y="1554480"/>
            <a:ext cx="9404724" cy="469391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l-GR" b="1" dirty="0"/>
              <a:t>Στατικά Σενάρια:</a:t>
            </a:r>
          </a:p>
          <a:p>
            <a:r>
              <a:rPr lang="el-GR" dirty="0"/>
              <a:t>Η αύξηση των </a:t>
            </a:r>
            <a:r>
              <a:rPr lang="el-GR" dirty="0" err="1"/>
              <a:t>UEs</a:t>
            </a:r>
            <a:r>
              <a:rPr lang="el-GR" dirty="0"/>
              <a:t> οδηγεί σε </a:t>
            </a:r>
            <a:r>
              <a:rPr lang="el-GR" b="1" dirty="0"/>
              <a:t>πτώση του συνολικού και ατομικού </a:t>
            </a:r>
            <a:r>
              <a:rPr lang="el-GR" b="1" dirty="0" err="1"/>
              <a:t>Throughput</a:t>
            </a:r>
            <a:r>
              <a:rPr lang="el-GR" dirty="0"/>
              <a:t>.</a:t>
            </a:r>
          </a:p>
          <a:p>
            <a:r>
              <a:rPr lang="el-GR" dirty="0"/>
              <a:t>Η </a:t>
            </a:r>
            <a:r>
              <a:rPr lang="el-GR" b="1" dirty="0"/>
              <a:t>φασματική αποδοτικότητα</a:t>
            </a:r>
            <a:r>
              <a:rPr lang="el-GR" dirty="0"/>
              <a:t> μειώνεται με την αύξηση χρηστών, λόγω ανταγωνισμού πόρων.</a:t>
            </a:r>
          </a:p>
          <a:p>
            <a:r>
              <a:rPr lang="el-GR" dirty="0"/>
              <a:t>Οι απομακρυσμένοι </a:t>
            </a:r>
            <a:r>
              <a:rPr lang="el-GR" dirty="0" err="1"/>
              <a:t>UEs</a:t>
            </a:r>
            <a:r>
              <a:rPr lang="el-GR" dirty="0"/>
              <a:t> παρουσιάζουν </a:t>
            </a:r>
            <a:r>
              <a:rPr lang="el-GR" b="1" dirty="0"/>
              <a:t>υψηλό BLER</a:t>
            </a:r>
            <a:r>
              <a:rPr lang="el-GR" dirty="0"/>
              <a:t> και ανεπαρκή εξυπηρέτηση (</a:t>
            </a:r>
            <a:r>
              <a:rPr lang="el-GR" dirty="0" err="1"/>
              <a:t>resource</a:t>
            </a:r>
            <a:r>
              <a:rPr lang="el-GR" dirty="0"/>
              <a:t> </a:t>
            </a:r>
            <a:r>
              <a:rPr lang="el-GR" dirty="0" err="1"/>
              <a:t>starvation</a:t>
            </a:r>
            <a:r>
              <a:rPr lang="el-GR" dirty="0"/>
              <a:t>).</a:t>
            </a:r>
          </a:p>
          <a:p>
            <a:r>
              <a:rPr lang="el-GR" dirty="0"/>
              <a:t>O αλγόριθμος </a:t>
            </a:r>
            <a:r>
              <a:rPr lang="el-GR" b="1" dirty="0" err="1"/>
              <a:t>Round</a:t>
            </a:r>
            <a:r>
              <a:rPr lang="el-GR" b="1" dirty="0"/>
              <a:t> </a:t>
            </a:r>
            <a:r>
              <a:rPr lang="el-GR" b="1" dirty="0" err="1"/>
              <a:t>Robin</a:t>
            </a:r>
            <a:r>
              <a:rPr lang="el-GR" dirty="0"/>
              <a:t> δεν λαμβάνει υπόψη την ποιότητα καναλιού (SINR), οδηγώντας σε </a:t>
            </a:r>
            <a:r>
              <a:rPr lang="el-GR" b="1" dirty="0"/>
              <a:t>μη βέλτιστη κατανομή</a:t>
            </a:r>
            <a:r>
              <a:rPr lang="el-GR" dirty="0"/>
              <a:t>.</a:t>
            </a:r>
          </a:p>
          <a:p>
            <a:pPr marL="0" indent="0">
              <a:buNone/>
            </a:pPr>
            <a:r>
              <a:rPr lang="el-GR" b="1" dirty="0"/>
              <a:t>Δυναμικά Σενάρια:</a:t>
            </a:r>
          </a:p>
          <a:p>
            <a:r>
              <a:rPr lang="el-GR" dirty="0"/>
              <a:t>Το on/</a:t>
            </a:r>
            <a:r>
              <a:rPr lang="el-GR" dirty="0" err="1"/>
              <a:t>off</a:t>
            </a:r>
            <a:r>
              <a:rPr lang="el-GR" dirty="0"/>
              <a:t> </a:t>
            </a:r>
            <a:r>
              <a:rPr lang="el-GR" dirty="0" err="1"/>
              <a:t>traffic</a:t>
            </a:r>
            <a:r>
              <a:rPr lang="el-GR" dirty="0"/>
              <a:t> προκαλεί </a:t>
            </a:r>
            <a:r>
              <a:rPr lang="el-GR" b="1" dirty="0"/>
              <a:t>πιο ρεαλιστική κατανομή</a:t>
            </a:r>
            <a:r>
              <a:rPr lang="el-GR" dirty="0"/>
              <a:t> πόρων.</a:t>
            </a:r>
          </a:p>
          <a:p>
            <a:r>
              <a:rPr lang="el-GR" dirty="0"/>
              <a:t>Οι </a:t>
            </a:r>
            <a:r>
              <a:rPr lang="el-GR" dirty="0" err="1"/>
              <a:t>UEs</a:t>
            </a:r>
            <a:r>
              <a:rPr lang="el-GR" dirty="0"/>
              <a:t> με συνεχή κίνηση απολαμβάνουν </a:t>
            </a:r>
            <a:r>
              <a:rPr lang="el-GR" b="1" dirty="0"/>
              <a:t>υψηλότερες ταχύτητες</a:t>
            </a:r>
            <a:r>
              <a:rPr lang="el-GR" dirty="0"/>
              <a:t> και </a:t>
            </a:r>
            <a:r>
              <a:rPr lang="el-GR" b="1" dirty="0"/>
              <a:t>βελτιωμένη </a:t>
            </a:r>
            <a:r>
              <a:rPr lang="el-GR" b="1" dirty="0" err="1"/>
              <a:t>QoS</a:t>
            </a:r>
            <a:r>
              <a:rPr lang="el-GR" dirty="0"/>
              <a:t>.</a:t>
            </a:r>
          </a:p>
          <a:p>
            <a:r>
              <a:rPr lang="el-GR" b="1" dirty="0"/>
              <a:t>Μειώνεται η συμφόρηση</a:t>
            </a:r>
            <a:r>
              <a:rPr lang="el-GR" dirty="0"/>
              <a:t>, αφού οι πόροι </a:t>
            </a:r>
            <a:r>
              <a:rPr lang="el-GR" dirty="0" err="1"/>
              <a:t>επανακατανέμονται</a:t>
            </a:r>
            <a:r>
              <a:rPr lang="el-GR" dirty="0"/>
              <a:t> στους ενεργούς χρήστες.</a:t>
            </a:r>
          </a:p>
          <a:p>
            <a:r>
              <a:rPr lang="el-GR" dirty="0"/>
              <a:t>Το σύστημα παρουσιάζει </a:t>
            </a:r>
            <a:r>
              <a:rPr lang="el-GR" b="1" dirty="0"/>
              <a:t>καλύτερη συνολική αποδοτικότητα</a:t>
            </a:r>
            <a:r>
              <a:rPr lang="el-GR" dirty="0"/>
              <a:t>, χωρίς ανάγκη περίπλοκης </a:t>
            </a:r>
            <a:r>
              <a:rPr lang="el-GR" dirty="0" err="1"/>
              <a:t>προτεραιοποίησης</a:t>
            </a:r>
            <a:r>
              <a:rPr lang="el-GR" dirty="0"/>
              <a:t>.</a:t>
            </a:r>
          </a:p>
          <a:p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2661942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Εικόνα 14" descr="αφηρημένη σχεδίαση">
            <a:extLst>
              <a:ext uri="{FF2B5EF4-FFF2-40B4-BE49-F238E27FC236}">
                <a16:creationId xmlns:a16="http://schemas.microsoft.com/office/drawing/2014/main" id="{6D363037-1741-4470-A023-883E2FFD584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18308" r="6818" b="2872"/>
          <a:stretch/>
        </p:blipFill>
        <p:spPr>
          <a:xfrm flipH="1">
            <a:off x="20" y="10"/>
            <a:ext cx="12191980" cy="6857990"/>
          </a:xfrm>
          <a:prstGeom prst="rect">
            <a:avLst/>
          </a:prstGeom>
        </p:spPr>
      </p:pic>
      <p:sp>
        <p:nvSpPr>
          <p:cNvPr id="12" name="Τίτλος 11">
            <a:extLst>
              <a:ext uri="{FF2B5EF4-FFF2-40B4-BE49-F238E27FC236}">
                <a16:creationId xmlns:a16="http://schemas.microsoft.com/office/drawing/2014/main" id="{970C361B-D32E-42E0-A41E-86C3D9AC88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062990"/>
            <a:ext cx="8825658" cy="1794511"/>
          </a:xfrm>
        </p:spPr>
        <p:txBody>
          <a:bodyPr rtlCol="0">
            <a:normAutofit fontScale="90000"/>
          </a:bodyPr>
          <a:lstStyle/>
          <a:p>
            <a:pPr algn="ctr" rtl="0"/>
            <a:r>
              <a:rPr lang="el-GR" noProof="1"/>
              <a:t>Ευχαριστώ για την προσοχή σας!</a:t>
            </a:r>
          </a:p>
        </p:txBody>
      </p:sp>
      <p:sp>
        <p:nvSpPr>
          <p:cNvPr id="57" name="Ορθογώνιο 56">
            <a:extLst>
              <a:ext uri="{FF2B5EF4-FFF2-40B4-BE49-F238E27FC236}">
                <a16:creationId xmlns:a16="http://schemas.microsoft.com/office/drawing/2014/main" id="{318E9D62-7BA3-4D5E-8915-0D0E8661E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l-GR"/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32BB6E8A-9252-55C8-D519-0DBB5E883F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107679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Ιόντα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0521418_TF78884036_Win32" id="{065C4ADD-362F-431C-AE12-8E8188317F31}" vid="{CCD41BCB-72C9-44FD-8803-C6624DCB1F68}"/>
    </a:ext>
  </a:extLst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93813dd7ca6ad654711aa0ab317e03a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f11dc0ce689dd3925e84e4e35398c6e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D16958A-754B-4396-9457-FD7A427A37D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48C88F1-1664-415F-AFCE-F6CF45809817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CC30393A-FEC6-4A44-9E4A-6EA49F1F7D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Ψηφιακή σχεδίαση</Template>
  <TotalTime>301</TotalTime>
  <Words>2241</Words>
  <Application>Microsoft Office PowerPoint</Application>
  <PresentationFormat>Ευρεία οθόνη</PresentationFormat>
  <Paragraphs>119</Paragraphs>
  <Slides>12</Slides>
  <Notes>11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4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12</vt:i4>
      </vt:variant>
    </vt:vector>
  </HeadingPairs>
  <TitlesOfParts>
    <vt:vector size="17" baseType="lpstr">
      <vt:lpstr>Arial</vt:lpstr>
      <vt:lpstr>Calibri</vt:lpstr>
      <vt:lpstr>Century Gothic</vt:lpstr>
      <vt:lpstr>Wingdings 3</vt:lpstr>
      <vt:lpstr>Ιόντα</vt:lpstr>
      <vt:lpstr>Μελέτη απόδοσης 5ης γενιάς ασυρμάτων δικτύων</vt:lpstr>
      <vt:lpstr>Εισαγωγή</vt:lpstr>
      <vt:lpstr>Σκοπός και στόχοι</vt:lpstr>
      <vt:lpstr>Θεωρητικό Υπόβαθρο</vt:lpstr>
      <vt:lpstr>Μεθοδολογία / Εργαλεία</vt:lpstr>
      <vt:lpstr>Αποτελέσματα Στατικών Σεναρίων</vt:lpstr>
      <vt:lpstr>Αποτελέσματα Στατικών Σεναρίων</vt:lpstr>
      <vt:lpstr>Αποτελέσματα Δυναμικών Σεναρίων</vt:lpstr>
      <vt:lpstr>Αποτελέσματα Δυναμικών Σεναρίων</vt:lpstr>
      <vt:lpstr>Αποτελέσματα Δυναμικών Σεναρίων</vt:lpstr>
      <vt:lpstr>Συνολικά Συμπεράσματα </vt:lpstr>
      <vt:lpstr>Ευχαριστώ για την προσοχή σας!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Χρήστος Αργυρόπουλος</dc:creator>
  <cp:lastModifiedBy>Χρήστος Αργυρόπουλος</cp:lastModifiedBy>
  <cp:revision>1</cp:revision>
  <dcterms:created xsi:type="dcterms:W3CDTF">2025-06-19T09:32:09Z</dcterms:created>
  <dcterms:modified xsi:type="dcterms:W3CDTF">2025-07-23T09:54:08Z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